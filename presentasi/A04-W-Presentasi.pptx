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Pembukaan: perkenalkan kelompok, kode kasus A04 pola Work Queue, dan bahwa proyek ini berdiri sendiri (infrastruktur RabbitMQ+PostgreSQL sendiri, terpisah dari repo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risiko pemrosesan sinkron, lalu solusi decoupling via event. Tegaskan batas prototipe: 3 fixture sintetis, hanya word_count, file_id bukan path bebas.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Telusuri diagram dari kiri ke kanan. Tekankan dua jalur cabang: alternate-exchange menangkap pesan tak ter-route, dead-letter-exchange menangkap payload invalid. Jelaskan kenapa direct+pola W dipilih.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Rekap tabel exchange/queue, lalu tekankan bahwa publisher confirm bukan jaminan routing — dua lapis pembuktian (alternate-exchange + Management API) yang dipakai.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Tunjukkan contoh event nyata dari run01. Jelaskan perbedaan event_id (kunci dedup) vs job_id (label bisnis) vs file_id (kunci lookup fixture, bukan path bebas).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Satu statement SQL menangani tiga kemungkinan hasil. Tekankan bahwa ack terjadi setelah efek bisnis tersimpan, dan payload invalid tidak pernah masuk tabel efek bisnis.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Jalankan tabel evidence baris demi baris. Tunjukkan cuplikan bukti/run01-u2-antrean-tertahan.json sebagai bukti backlog nyata bila waktu memungkinkan (demo langsung).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Momen highlight: 20→25→25→26. Jelaskan kenapa 25 tidak berubah di U3 (replay = bukti idempotensi), dan 26 di U4 murni dari V01 karena X01 masuk jalur penolakan.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Ceritakan sebagai narasi investigasi: gejala -&gt; hipotesis -&gt; pembuktian dengan tasklist -&gt; solusi taskkill. Ini bagian yang paling menunjukkan proses berpikir tim, beri waktu cukup.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Jujur soal batas prototipe dulu, baru arah pengembangan. Tekankan bahwa U1-U4 hanya membuktikan idempotensi consumer-side dan pemulihan dari gangguan proses consumer, bukan kegagalan infrastruktur.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Bedakan jelas mana yang diadaptasi dari lab simpel vs yang benar-benar baru untuk A04. Tutup dengan alasan proyek dipisah jadi folder mandiri.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Undang pertanyaan. Siapkan untuk ditanya soal: kenapa worker kedua belum diuji, kenapa tidak ada outbox, dan cara membaca bukti/run01-ledger.json bila diminta pengajar.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1.png"/><Relationship Id="rId3" Type="http://schemas.openxmlformats.org/officeDocument/2006/relationships/image" Target="../media/image-10-1.png"/><Relationship Id="rId4" Type="http://schemas.openxmlformats.org/officeDocument/2006/relationships/image" Target="../media/image-10-1.png"/><Relationship Id="rId5" Type="http://schemas.openxmlformats.org/officeDocument/2006/relationships/image" Target="../media/image-10-1.png"/><Relationship Id="rId6" Type="http://schemas.openxmlformats.org/officeDocument/2006/relationships/image" Target="../media/image-10-6.png"/><Relationship Id="rId7" Type="http://schemas.openxmlformats.org/officeDocument/2006/relationships/image" Target="../media/image-10-6.png"/><Relationship Id="rId8" Type="http://schemas.openxmlformats.org/officeDocument/2006/relationships/image" Target="../media/image-10-6.png"/><Relationship Id="rId9" Type="http://schemas.openxmlformats.org/officeDocument/2006/relationships/image" Target="../media/image-10-6.png"/><Relationship Id="rId10" Type="http://schemas.openxmlformats.org/officeDocument/2006/relationships/slideLayout" Target="../slideLayouts/slideLayout1.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548640" y="1417320"/>
            <a:ext cx="11094415" cy="457200"/>
          </a:xfrm>
          <a:prstGeom prst="rect">
            <a:avLst/>
          </a:prstGeom>
          <a:noFill/>
          <a:ln/>
        </p:spPr>
        <p:txBody>
          <a:bodyPr wrap="square" rtlCol="0" anchor="ctr"/>
          <a:lstStyle/>
          <a:p>
            <a:pPr indent="0" marL="0">
              <a:buNone/>
            </a:pPr>
            <a:r>
              <a:rPr lang="en-US" sz="1200" b="1" spc="150" kern="0" dirty="0">
                <a:solidFill>
                  <a:srgbClr val="9AB6D6"/>
                </a:solidFill>
                <a:latin typeface="Calibri" pitchFamily="34" charset="0"/>
                <a:ea typeface="Calibri" pitchFamily="34" charset="-122"/>
                <a:cs typeface="Calibri" pitchFamily="34" charset="-120"/>
              </a:rPr>
              <a:t>PJJ IMPLEMENTASI &amp; PENGELOLAAN MESSAGE BROKER UNTUK ARSITEKTUR MICROSERVICES — BPPK KEMENKEU</a:t>
            </a:r>
            <a:endParaRPr lang="en-US" sz="1200" dirty="0"/>
          </a:p>
        </p:txBody>
      </p:sp>
      <p:sp>
        <p:nvSpPr>
          <p:cNvPr id="3" name="Text 1"/>
          <p:cNvSpPr/>
          <p:nvPr/>
        </p:nvSpPr>
        <p:spPr>
          <a:xfrm>
            <a:off x="548640" y="1965960"/>
            <a:ext cx="11094415" cy="1188720"/>
          </a:xfrm>
          <a:prstGeom prst="rect">
            <a:avLst/>
          </a:prstGeom>
          <a:noFill/>
          <a:ln/>
        </p:spPr>
        <p:txBody>
          <a:bodyPr wrap="square"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A04-W — Pengolahan Berkas</a:t>
            </a:r>
            <a:endParaRPr lang="en-US" sz="4600" dirty="0"/>
          </a:p>
        </p:txBody>
      </p:sp>
      <p:sp>
        <p:nvSpPr>
          <p:cNvPr id="4" name="Text 2"/>
          <p:cNvSpPr/>
          <p:nvPr/>
        </p:nvSpPr>
        <p:spPr>
          <a:xfrm>
            <a:off x="548640" y="3063240"/>
            <a:ext cx="9601200" cy="548640"/>
          </a:xfrm>
          <a:prstGeom prst="rect">
            <a:avLst/>
          </a:prstGeom>
          <a:noFill/>
          <a:ln/>
        </p:spPr>
        <p:txBody>
          <a:bodyPr wrap="square" rtlCol="0" anchor="ctr"/>
          <a:lstStyle/>
          <a:p>
            <a:pPr indent="0" marL="0">
              <a:buNone/>
            </a:pPr>
            <a:r>
              <a:rPr lang="en-US" sz="1700" i="1" dirty="0">
                <a:solidFill>
                  <a:srgbClr val="CADCFC"/>
                </a:solidFill>
                <a:latin typeface="Calibri" pitchFamily="34" charset="0"/>
                <a:ea typeface="Calibri" pitchFamily="34" charset="-122"/>
                <a:cs typeface="Calibri" pitchFamily="34" charset="-120"/>
              </a:rPr>
              <a:t>Pola Work Queue: RabbitMQ + PostgreSQL untuk pemrosesan berkas asinkron</a:t>
            </a:r>
            <a:endParaRPr lang="en-US" sz="1700" dirty="0"/>
          </a:p>
        </p:txBody>
      </p:sp>
      <p:sp>
        <p:nvSpPr>
          <p:cNvPr id="5" name="Shape 3"/>
          <p:cNvSpPr/>
          <p:nvPr/>
        </p:nvSpPr>
        <p:spPr>
          <a:xfrm>
            <a:off x="1592428" y="4503420"/>
            <a:ext cx="777240" cy="777240"/>
          </a:xfrm>
          <a:prstGeom prst="ellipse">
            <a:avLst/>
          </a:prstGeom>
          <a:solidFill>
            <a:srgbClr val="1C7293"/>
          </a:solidFill>
          <a:ln/>
        </p:spPr>
      </p:sp>
      <p:pic>
        <p:nvPicPr>
          <p:cNvPr id="6" name="Image 0" descr="E:\_tmp_pptx_build\icons\upload.png">    </p:cNvPr>
          <p:cNvPicPr>
            <a:picLocks noChangeAspect="1"/>
          </p:cNvPicPr>
          <p:nvPr/>
        </p:nvPicPr>
        <p:blipFill>
          <a:blip r:embed="rId1"/>
          <a:stretch>
            <a:fillRect/>
          </a:stretch>
        </p:blipFill>
        <p:spPr>
          <a:xfrm>
            <a:off x="1794510" y="4705502"/>
            <a:ext cx="373075" cy="373075"/>
          </a:xfrm>
          <a:prstGeom prst="rect">
            <a:avLst/>
          </a:prstGeom>
        </p:spPr>
      </p:pic>
      <p:sp>
        <p:nvSpPr>
          <p:cNvPr id="7" name="Text 4"/>
          <p:cNvSpPr/>
          <p:nvPr/>
        </p:nvSpPr>
        <p:spPr>
          <a:xfrm>
            <a:off x="1066648" y="5394960"/>
            <a:ext cx="1828800" cy="274320"/>
          </a:xfrm>
          <a:prstGeom prst="rect">
            <a:avLst/>
          </a:prstGeom>
          <a:noFill/>
          <a:ln/>
        </p:spPr>
        <p:txBody>
          <a:bodyPr wrap="square" rtlCol="0" anchor="ctr"/>
          <a:lstStyle/>
          <a:p>
            <a:pPr algn="ctr" indent="0" marL="0">
              <a:buNone/>
            </a:pPr>
            <a:r>
              <a:rPr lang="en-US" sz="1050" dirty="0">
                <a:solidFill>
                  <a:srgbClr val="CADCFC"/>
                </a:solidFill>
                <a:latin typeface="Calibri" pitchFamily="34" charset="0"/>
                <a:ea typeface="Calibri" pitchFamily="34" charset="-122"/>
                <a:cs typeface="Calibri" pitchFamily="34" charset="-120"/>
              </a:rPr>
              <a:t>Producer</a:t>
            </a:r>
            <a:endParaRPr lang="en-US" sz="1050" dirty="0"/>
          </a:p>
        </p:txBody>
      </p:sp>
      <p:sp>
        <p:nvSpPr>
          <p:cNvPr id="8" name="Shape 5"/>
          <p:cNvSpPr/>
          <p:nvPr/>
        </p:nvSpPr>
        <p:spPr>
          <a:xfrm>
            <a:off x="2813152" y="4791456"/>
            <a:ext cx="393192" cy="201168"/>
          </a:xfrm>
          <a:prstGeom prst="rightArrow">
            <a:avLst/>
          </a:prstGeom>
          <a:solidFill>
            <a:srgbClr val="5C79B0"/>
          </a:solidFill>
          <a:ln/>
        </p:spPr>
      </p:sp>
      <p:sp>
        <p:nvSpPr>
          <p:cNvPr id="9" name="Shape 6"/>
          <p:cNvSpPr/>
          <p:nvPr/>
        </p:nvSpPr>
        <p:spPr>
          <a:xfrm>
            <a:off x="3649828" y="4503420"/>
            <a:ext cx="777240" cy="777240"/>
          </a:xfrm>
          <a:prstGeom prst="ellipse">
            <a:avLst/>
          </a:prstGeom>
          <a:solidFill>
            <a:srgbClr val="1C7293"/>
          </a:solidFill>
          <a:ln/>
        </p:spPr>
      </p:sp>
      <p:pic>
        <p:nvPicPr>
          <p:cNvPr id="10" name="Image 1" descr="E:\_tmp_pptx_build\icons\gitbranch.png">    </p:cNvPr>
          <p:cNvPicPr>
            <a:picLocks noChangeAspect="1"/>
          </p:cNvPicPr>
          <p:nvPr/>
        </p:nvPicPr>
        <p:blipFill>
          <a:blip r:embed="rId2"/>
          <a:stretch>
            <a:fillRect/>
          </a:stretch>
        </p:blipFill>
        <p:spPr>
          <a:xfrm>
            <a:off x="3851910" y="4705502"/>
            <a:ext cx="373075" cy="373075"/>
          </a:xfrm>
          <a:prstGeom prst="rect">
            <a:avLst/>
          </a:prstGeom>
        </p:spPr>
      </p:pic>
      <p:sp>
        <p:nvSpPr>
          <p:cNvPr id="11" name="Text 7"/>
          <p:cNvSpPr/>
          <p:nvPr/>
        </p:nvSpPr>
        <p:spPr>
          <a:xfrm>
            <a:off x="3124048" y="5394960"/>
            <a:ext cx="1828800" cy="274320"/>
          </a:xfrm>
          <a:prstGeom prst="rect">
            <a:avLst/>
          </a:prstGeom>
          <a:noFill/>
          <a:ln/>
        </p:spPr>
        <p:txBody>
          <a:bodyPr wrap="square" rtlCol="0" anchor="ctr"/>
          <a:lstStyle/>
          <a:p>
            <a:pPr algn="ctr" indent="0" marL="0">
              <a:buNone/>
            </a:pPr>
            <a:r>
              <a:rPr lang="en-US" sz="1050" dirty="0">
                <a:solidFill>
                  <a:srgbClr val="CADCFC"/>
                </a:solidFill>
                <a:latin typeface="Calibri" pitchFamily="34" charset="0"/>
                <a:ea typeface="Calibri" pitchFamily="34" charset="-122"/>
                <a:cs typeface="Calibri" pitchFamily="34" charset="-120"/>
              </a:rPr>
              <a:t>Exchange</a:t>
            </a:r>
            <a:endParaRPr lang="en-US" sz="1050" dirty="0"/>
          </a:p>
        </p:txBody>
      </p:sp>
      <p:sp>
        <p:nvSpPr>
          <p:cNvPr id="12" name="Shape 8"/>
          <p:cNvSpPr/>
          <p:nvPr/>
        </p:nvSpPr>
        <p:spPr>
          <a:xfrm>
            <a:off x="4870552" y="4791456"/>
            <a:ext cx="393192" cy="201168"/>
          </a:xfrm>
          <a:prstGeom prst="rightArrow">
            <a:avLst/>
          </a:prstGeom>
          <a:solidFill>
            <a:srgbClr val="5C79B0"/>
          </a:solidFill>
          <a:ln/>
        </p:spPr>
      </p:sp>
      <p:sp>
        <p:nvSpPr>
          <p:cNvPr id="13" name="Shape 9"/>
          <p:cNvSpPr/>
          <p:nvPr/>
        </p:nvSpPr>
        <p:spPr>
          <a:xfrm>
            <a:off x="5707228" y="4503420"/>
            <a:ext cx="777240" cy="777240"/>
          </a:xfrm>
          <a:prstGeom prst="ellipse">
            <a:avLst/>
          </a:prstGeom>
          <a:solidFill>
            <a:srgbClr val="1C7293"/>
          </a:solidFill>
          <a:ln/>
        </p:spPr>
      </p:sp>
      <p:pic>
        <p:nvPicPr>
          <p:cNvPr id="14" name="Image 2" descr="E:\_tmp_pptx_build\icons\list.png">    </p:cNvPr>
          <p:cNvPicPr>
            <a:picLocks noChangeAspect="1"/>
          </p:cNvPicPr>
          <p:nvPr/>
        </p:nvPicPr>
        <p:blipFill>
          <a:blip r:embed="rId3"/>
          <a:stretch>
            <a:fillRect/>
          </a:stretch>
        </p:blipFill>
        <p:spPr>
          <a:xfrm>
            <a:off x="5909310" y="4705502"/>
            <a:ext cx="373075" cy="373075"/>
          </a:xfrm>
          <a:prstGeom prst="rect">
            <a:avLst/>
          </a:prstGeom>
        </p:spPr>
      </p:pic>
      <p:sp>
        <p:nvSpPr>
          <p:cNvPr id="15" name="Text 10"/>
          <p:cNvSpPr/>
          <p:nvPr/>
        </p:nvSpPr>
        <p:spPr>
          <a:xfrm>
            <a:off x="5181448" y="5394960"/>
            <a:ext cx="1828800" cy="274320"/>
          </a:xfrm>
          <a:prstGeom prst="rect">
            <a:avLst/>
          </a:prstGeom>
          <a:noFill/>
          <a:ln/>
        </p:spPr>
        <p:txBody>
          <a:bodyPr wrap="square" rtlCol="0" anchor="ctr"/>
          <a:lstStyle/>
          <a:p>
            <a:pPr algn="ctr" indent="0" marL="0">
              <a:buNone/>
            </a:pPr>
            <a:r>
              <a:rPr lang="en-US" sz="1050" dirty="0">
                <a:solidFill>
                  <a:srgbClr val="CADCFC"/>
                </a:solidFill>
                <a:latin typeface="Calibri" pitchFamily="34" charset="0"/>
                <a:ea typeface="Calibri" pitchFamily="34" charset="-122"/>
                <a:cs typeface="Calibri" pitchFamily="34" charset="-120"/>
              </a:rPr>
              <a:t>Queue</a:t>
            </a:r>
            <a:endParaRPr lang="en-US" sz="1050" dirty="0"/>
          </a:p>
        </p:txBody>
      </p:sp>
      <p:sp>
        <p:nvSpPr>
          <p:cNvPr id="16" name="Shape 11"/>
          <p:cNvSpPr/>
          <p:nvPr/>
        </p:nvSpPr>
        <p:spPr>
          <a:xfrm>
            <a:off x="6927952" y="4791456"/>
            <a:ext cx="393192" cy="201168"/>
          </a:xfrm>
          <a:prstGeom prst="rightArrow">
            <a:avLst/>
          </a:prstGeom>
          <a:solidFill>
            <a:srgbClr val="5C79B0"/>
          </a:solidFill>
          <a:ln/>
        </p:spPr>
      </p:sp>
      <p:sp>
        <p:nvSpPr>
          <p:cNvPr id="17" name="Shape 12"/>
          <p:cNvSpPr/>
          <p:nvPr/>
        </p:nvSpPr>
        <p:spPr>
          <a:xfrm>
            <a:off x="7764628" y="4503420"/>
            <a:ext cx="777240" cy="777240"/>
          </a:xfrm>
          <a:prstGeom prst="ellipse">
            <a:avLst/>
          </a:prstGeom>
          <a:solidFill>
            <a:srgbClr val="1C7293"/>
          </a:solidFill>
          <a:ln/>
        </p:spPr>
      </p:sp>
      <p:pic>
        <p:nvPicPr>
          <p:cNvPr id="18" name="Image 3" descr="E:\_tmp_pptx_build\icons\cpu.png">    </p:cNvPr>
          <p:cNvPicPr>
            <a:picLocks noChangeAspect="1"/>
          </p:cNvPicPr>
          <p:nvPr/>
        </p:nvPicPr>
        <p:blipFill>
          <a:blip r:embed="rId4"/>
          <a:stretch>
            <a:fillRect/>
          </a:stretch>
        </p:blipFill>
        <p:spPr>
          <a:xfrm>
            <a:off x="7966710" y="4705502"/>
            <a:ext cx="373075" cy="373075"/>
          </a:xfrm>
          <a:prstGeom prst="rect">
            <a:avLst/>
          </a:prstGeom>
        </p:spPr>
      </p:pic>
      <p:sp>
        <p:nvSpPr>
          <p:cNvPr id="19" name="Text 13"/>
          <p:cNvSpPr/>
          <p:nvPr/>
        </p:nvSpPr>
        <p:spPr>
          <a:xfrm>
            <a:off x="7238848" y="5394960"/>
            <a:ext cx="1828800" cy="274320"/>
          </a:xfrm>
          <a:prstGeom prst="rect">
            <a:avLst/>
          </a:prstGeom>
          <a:noFill/>
          <a:ln/>
        </p:spPr>
        <p:txBody>
          <a:bodyPr wrap="square" rtlCol="0" anchor="ctr"/>
          <a:lstStyle/>
          <a:p>
            <a:pPr algn="ctr" indent="0" marL="0">
              <a:buNone/>
            </a:pPr>
            <a:r>
              <a:rPr lang="en-US" sz="1050" dirty="0">
                <a:solidFill>
                  <a:srgbClr val="CADCFC"/>
                </a:solidFill>
                <a:latin typeface="Calibri" pitchFamily="34" charset="0"/>
                <a:ea typeface="Calibri" pitchFamily="34" charset="-122"/>
                <a:cs typeface="Calibri" pitchFamily="34" charset="-120"/>
              </a:rPr>
              <a:t>Worker</a:t>
            </a:r>
            <a:endParaRPr lang="en-US" sz="1050" dirty="0"/>
          </a:p>
        </p:txBody>
      </p:sp>
      <p:sp>
        <p:nvSpPr>
          <p:cNvPr id="20" name="Shape 14"/>
          <p:cNvSpPr/>
          <p:nvPr/>
        </p:nvSpPr>
        <p:spPr>
          <a:xfrm>
            <a:off x="8985352" y="4791456"/>
            <a:ext cx="393192" cy="201168"/>
          </a:xfrm>
          <a:prstGeom prst="rightArrow">
            <a:avLst/>
          </a:prstGeom>
          <a:solidFill>
            <a:srgbClr val="5C79B0"/>
          </a:solidFill>
          <a:ln/>
        </p:spPr>
      </p:sp>
      <p:sp>
        <p:nvSpPr>
          <p:cNvPr id="21" name="Shape 15"/>
          <p:cNvSpPr/>
          <p:nvPr/>
        </p:nvSpPr>
        <p:spPr>
          <a:xfrm>
            <a:off x="9822028" y="4503420"/>
            <a:ext cx="777240" cy="777240"/>
          </a:xfrm>
          <a:prstGeom prst="ellipse">
            <a:avLst/>
          </a:prstGeom>
          <a:solidFill>
            <a:srgbClr val="C98A3A"/>
          </a:solidFill>
          <a:ln/>
        </p:spPr>
      </p:sp>
      <p:pic>
        <p:nvPicPr>
          <p:cNvPr id="22" name="Image 4" descr="E:\_tmp_pptx_build\icons\database.png">    </p:cNvPr>
          <p:cNvPicPr>
            <a:picLocks noChangeAspect="1"/>
          </p:cNvPicPr>
          <p:nvPr/>
        </p:nvPicPr>
        <p:blipFill>
          <a:blip r:embed="rId5"/>
          <a:stretch>
            <a:fillRect/>
          </a:stretch>
        </p:blipFill>
        <p:spPr>
          <a:xfrm>
            <a:off x="10024110" y="4705502"/>
            <a:ext cx="373075" cy="373075"/>
          </a:xfrm>
          <a:prstGeom prst="rect">
            <a:avLst/>
          </a:prstGeom>
        </p:spPr>
      </p:pic>
      <p:sp>
        <p:nvSpPr>
          <p:cNvPr id="23" name="Text 16"/>
          <p:cNvSpPr/>
          <p:nvPr/>
        </p:nvSpPr>
        <p:spPr>
          <a:xfrm>
            <a:off x="9296248" y="5394960"/>
            <a:ext cx="1828800" cy="274320"/>
          </a:xfrm>
          <a:prstGeom prst="rect">
            <a:avLst/>
          </a:prstGeom>
          <a:noFill/>
          <a:ln/>
        </p:spPr>
        <p:txBody>
          <a:bodyPr wrap="square" rtlCol="0" anchor="ctr"/>
          <a:lstStyle/>
          <a:p>
            <a:pPr algn="ctr" indent="0" marL="0">
              <a:buNone/>
            </a:pPr>
            <a:r>
              <a:rPr lang="en-US" sz="1050" dirty="0">
                <a:solidFill>
                  <a:srgbClr val="CADCFC"/>
                </a:solidFill>
                <a:latin typeface="Calibri" pitchFamily="34" charset="0"/>
                <a:ea typeface="Calibri" pitchFamily="34" charset="-122"/>
                <a:cs typeface="Calibri" pitchFamily="34" charset="-120"/>
              </a:rPr>
              <a:t>PostgreSQL</a:t>
            </a:r>
            <a:endParaRPr lang="en-US" sz="1050" dirty="0"/>
          </a:p>
        </p:txBody>
      </p:sp>
      <p:sp>
        <p:nvSpPr>
          <p:cNvPr id="24" name="Text 17"/>
          <p:cNvSpPr/>
          <p:nvPr/>
        </p:nvSpPr>
        <p:spPr>
          <a:xfrm>
            <a:off x="548640" y="6080760"/>
            <a:ext cx="6400800" cy="320040"/>
          </a:xfrm>
          <a:prstGeom prst="rect">
            <a:avLst/>
          </a:prstGeom>
          <a:noFill/>
          <a:ln/>
        </p:spPr>
        <p:txBody>
          <a:bodyPr wrap="square" rtlCol="0" anchor="ctr"/>
          <a:lstStyle/>
          <a:p>
            <a:pPr indent="0" marL="0">
              <a:buNone/>
            </a:pPr>
            <a:r>
              <a:rPr lang="en-US" sz="1150" dirty="0">
                <a:solidFill>
                  <a:srgbClr val="9AB6D6"/>
                </a:solidFill>
                <a:latin typeface="Calibri" pitchFamily="34" charset="0"/>
                <a:ea typeface="Calibri" pitchFamily="34" charset="-122"/>
                <a:cs typeface="Calibri" pitchFamily="34" charset="-120"/>
              </a:rPr>
              <a:t>Jumat, 25 September 2026  ·  Sesi Presentasi &amp; Tanya Jawab</a:t>
            </a:r>
            <a:endParaRPr lang="en-US" sz="1150" dirty="0"/>
          </a:p>
        </p:txBody>
      </p:sp>
      <p:sp>
        <p:nvSpPr>
          <p:cNvPr id="25" name="Text 18"/>
          <p:cNvSpPr/>
          <p:nvPr/>
        </p:nvSpPr>
        <p:spPr>
          <a:xfrm>
            <a:off x="8351215" y="6080760"/>
            <a:ext cx="3291840" cy="320040"/>
          </a:xfrm>
          <a:prstGeom prst="rect">
            <a:avLst/>
          </a:prstGeom>
          <a:noFill/>
          <a:ln/>
        </p:spPr>
        <p:txBody>
          <a:bodyPr wrap="square" rtlCol="0" anchor="ctr"/>
          <a:lstStyle/>
          <a:p>
            <a:pPr algn="r" indent="0" marL="0">
              <a:buNone/>
            </a:pPr>
            <a:r>
              <a:rPr lang="en-US" sz="1150" dirty="0">
                <a:solidFill>
                  <a:srgbClr val="9AB6D6"/>
                </a:solidFill>
                <a:latin typeface="Calibri" pitchFamily="34" charset="0"/>
                <a:ea typeface="Calibri" pitchFamily="34" charset="-122"/>
                <a:cs typeface="Calibri" pitchFamily="34" charset="-120"/>
              </a:rPr>
              <a:t>[Nama Kelompok / Anggota]</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rtlCol="0" anchor="ctr"/>
          <a:lstStyle/>
          <a:p>
            <a:pPr algn="l" indent="0" marL="0">
              <a:buNone/>
            </a:pPr>
            <a:r>
              <a:rPr lang="en-US" sz="1200" b="1" spc="200" kern="0" dirty="0">
                <a:solidFill>
                  <a:srgbClr val="1C7293"/>
                </a:solidFill>
                <a:latin typeface="Calibri" pitchFamily="34" charset="0"/>
                <a:ea typeface="Calibri" pitchFamily="34" charset="-122"/>
                <a:cs typeface="Calibri" pitchFamily="34" charset="-120"/>
              </a:rPr>
              <a:t>01 · MASALAH &amp; RUANG LINGKUP</a:t>
            </a:r>
            <a:endParaRPr lang="en-US" sz="1200" dirty="0"/>
          </a:p>
        </p:txBody>
      </p:sp>
      <p:sp>
        <p:nvSpPr>
          <p:cNvPr id="3" name="Text 1"/>
          <p:cNvSpPr/>
          <p:nvPr/>
        </p:nvSpPr>
        <p:spPr>
          <a:xfrm>
            <a:off x="548640" y="658368"/>
            <a:ext cx="11094415" cy="777240"/>
          </a:xfrm>
          <a:prstGeom prst="rect">
            <a:avLst/>
          </a:prstGeom>
          <a:noFill/>
          <a:ln/>
        </p:spPr>
        <p:txBody>
          <a:bodyPr wrap="square" rtlCol="0" anchor="ctr"/>
          <a:lstStyle/>
          <a:p>
            <a:pPr algn="l" indent="0" marL="0">
              <a:buNone/>
            </a:pPr>
            <a:r>
              <a:rPr lang="en-US" sz="3200" b="1" dirty="0">
                <a:solidFill>
                  <a:srgbClr val="1B2733"/>
                </a:solidFill>
                <a:latin typeface="Cambria" pitchFamily="34" charset="0"/>
                <a:ea typeface="Cambria" pitchFamily="34" charset="-122"/>
                <a:cs typeface="Cambria" pitchFamily="34" charset="-120"/>
              </a:rPr>
              <a:t>Kenapa pemrosesan berkas perlu dipisah dari alur unggah?</a:t>
            </a:r>
            <a:endParaRPr lang="en-US" sz="3200" dirty="0"/>
          </a:p>
        </p:txBody>
      </p:sp>
      <p:sp>
        <p:nvSpPr>
          <p:cNvPr id="4" name="Shape 2"/>
          <p:cNvSpPr/>
          <p:nvPr/>
        </p:nvSpPr>
        <p:spPr>
          <a:xfrm>
            <a:off x="548640" y="1691640"/>
            <a:ext cx="6400800" cy="4434840"/>
          </a:xfrm>
          <a:prstGeom prst="roundRect">
            <a:avLst>
              <a:gd name="adj" fmla="val 1649"/>
            </a:avLst>
          </a:prstGeom>
          <a:solidFill>
            <a:srgbClr val="F4F7FA"/>
          </a:solidFill>
          <a:ln/>
        </p:spPr>
      </p:sp>
      <p:sp>
        <p:nvSpPr>
          <p:cNvPr id="5" name="Text 3"/>
          <p:cNvSpPr/>
          <p:nvPr/>
        </p:nvSpPr>
        <p:spPr>
          <a:xfrm>
            <a:off x="868680" y="1920240"/>
            <a:ext cx="5760720" cy="320040"/>
          </a:xfrm>
          <a:prstGeom prst="rect">
            <a:avLst/>
          </a:prstGeom>
          <a:noFill/>
          <a:ln/>
        </p:spPr>
        <p:txBody>
          <a:bodyPr wrap="square"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Latar belakang</a:t>
            </a:r>
            <a:endParaRPr lang="en-US" sz="1400" dirty="0"/>
          </a:p>
        </p:txBody>
      </p:sp>
      <p:sp>
        <p:nvSpPr>
          <p:cNvPr id="6" name="Text 4"/>
          <p:cNvSpPr/>
          <p:nvPr/>
        </p:nvSpPr>
        <p:spPr>
          <a:xfrm>
            <a:off x="868680" y="2286000"/>
            <a:ext cx="5760720" cy="1371600"/>
          </a:xfrm>
          <a:prstGeom prst="rect">
            <a:avLst/>
          </a:prstGeom>
          <a:noFill/>
          <a:ln/>
        </p:spPr>
        <p:txBody>
          <a:bodyPr wrap="square" rtlCol="0" anchor="ctr"/>
          <a:lstStyle/>
          <a:p>
            <a:pPr indent="0" marL="0">
              <a:lnSpc>
                <a:spcPct val="125000"/>
              </a:lnSpc>
              <a:buNone/>
            </a:pPr>
            <a:r>
              <a:rPr lang="en-US" sz="1250" dirty="0">
                <a:solidFill>
                  <a:srgbClr val="1B2733"/>
                </a:solidFill>
                <a:latin typeface="Calibri" pitchFamily="34" charset="0"/>
                <a:ea typeface="Calibri" pitchFamily="34" charset="-122"/>
                <a:cs typeface="Calibri" pitchFamily="34" charset="-120"/>
              </a:rPr>
              <a:t>Pada alur perizinan SIMPEL, berkas pendukung yang diunggah perlu diproses (mis. dianalisis isinya) sebelum dipakai proses berikutnya. Bila diproses sinkron di dalam request unggah, lonjakan job atau gangguan pada layanan pemroses langsung menahan pengguna — dan berisiko kehilangan permintaan saat pemroses down.</a:t>
            </a:r>
            <a:endParaRPr lang="en-US" sz="1250" dirty="0"/>
          </a:p>
        </p:txBody>
      </p:sp>
      <p:sp>
        <p:nvSpPr>
          <p:cNvPr id="7" name="Text 5"/>
          <p:cNvSpPr/>
          <p:nvPr/>
        </p:nvSpPr>
        <p:spPr>
          <a:xfrm>
            <a:off x="868680" y="3703320"/>
            <a:ext cx="5760720" cy="320040"/>
          </a:xfrm>
          <a:prstGeom prst="rect">
            <a:avLst/>
          </a:prstGeom>
          <a:noFill/>
          <a:ln/>
        </p:spPr>
        <p:txBody>
          <a:bodyPr wrap="square"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Solusi: decoupling lewat event</a:t>
            </a:r>
            <a:endParaRPr lang="en-US" sz="1400" dirty="0"/>
          </a:p>
        </p:txBody>
      </p:sp>
      <p:sp>
        <p:nvSpPr>
          <p:cNvPr id="8" name="Text 6"/>
          <p:cNvSpPr/>
          <p:nvPr/>
        </p:nvSpPr>
        <p:spPr>
          <a:xfrm>
            <a:off x="868680" y="4069080"/>
            <a:ext cx="5760720" cy="868680"/>
          </a:xfrm>
          <a:prstGeom prst="rect">
            <a:avLst/>
          </a:prstGeom>
          <a:noFill/>
          <a:ln/>
        </p:spPr>
        <p:txBody>
          <a:bodyPr wrap="square" rtlCol="0" anchor="ctr"/>
          <a:lstStyle/>
          <a:p>
            <a:pPr indent="0" marL="0">
              <a:lnSpc>
                <a:spcPct val="125000"/>
              </a:lnSpc>
              <a:buNone/>
            </a:pPr>
            <a:r>
              <a:rPr lang="en-US" sz="1250" dirty="0">
                <a:solidFill>
                  <a:srgbClr val="1B2733"/>
                </a:solidFill>
                <a:latin typeface="Calibri" pitchFamily="34" charset="0"/>
                <a:ea typeface="Calibri" pitchFamily="34" charset="-122"/>
                <a:cs typeface="Calibri" pitchFamily="34" charset="-120"/>
              </a:rPr>
              <a:t>Permintaan pemrosesan (satu job) dipublikasikan sebagai event, diproses worker terpisah, hasilnya (metadata) tersimpan permanen terlepas dari kapan worker sempat memprosesnya.</a:t>
            </a:r>
            <a:endParaRPr lang="en-US" sz="1250" dirty="0"/>
          </a:p>
        </p:txBody>
      </p:sp>
      <p:sp>
        <p:nvSpPr>
          <p:cNvPr id="9" name="Text 7"/>
          <p:cNvSpPr/>
          <p:nvPr/>
        </p:nvSpPr>
        <p:spPr>
          <a:xfrm>
            <a:off x="868680" y="5074920"/>
            <a:ext cx="5760720" cy="822960"/>
          </a:xfrm>
          <a:prstGeom prst="rect">
            <a:avLst/>
          </a:prstGeom>
          <a:noFill/>
          <a:ln/>
        </p:spPr>
        <p:txBody>
          <a:bodyPr wrap="square" rtlCol="0" anchor="ctr"/>
          <a:lstStyle/>
          <a:p>
            <a:pPr indent="0" marL="0">
              <a:lnSpc>
                <a:spcPct val="120000"/>
              </a:lnSpc>
              <a:buNone/>
            </a:pPr>
            <a:r>
              <a:rPr lang="en-US" sz="1150" i="1" dirty="0">
                <a:solidFill>
                  <a:srgbClr val="5B6B78"/>
                </a:solidFill>
                <a:latin typeface="Calibri" pitchFamily="34" charset="0"/>
                <a:ea typeface="Calibri" pitchFamily="34" charset="-122"/>
                <a:cs typeface="Calibri" pitchFamily="34" charset="-120"/>
              </a:rPr>
              <a:t>Kriteria keberhasilan diukur lewat 4 skenario uji bersama (U1–U4, run01) — lihat halaman Bukti Pengujian.</a:t>
            </a:r>
            <a:endParaRPr lang="en-US" sz="1150" dirty="0"/>
          </a:p>
        </p:txBody>
      </p:sp>
      <p:sp>
        <p:nvSpPr>
          <p:cNvPr id="10" name="Shape 8"/>
          <p:cNvSpPr/>
          <p:nvPr/>
        </p:nvSpPr>
        <p:spPr>
          <a:xfrm>
            <a:off x="7315200" y="1691640"/>
            <a:ext cx="4327855" cy="4434840"/>
          </a:xfrm>
          <a:prstGeom prst="roundRect">
            <a:avLst>
              <a:gd name="adj" fmla="val 1690"/>
            </a:avLst>
          </a:prstGeom>
          <a:solidFill>
            <a:srgbClr val="21295C"/>
          </a:solidFill>
          <a:ln/>
        </p:spPr>
      </p:sp>
      <p:sp>
        <p:nvSpPr>
          <p:cNvPr id="11" name="Text 9"/>
          <p:cNvSpPr/>
          <p:nvPr/>
        </p:nvSpPr>
        <p:spPr>
          <a:xfrm>
            <a:off x="7589520" y="1874520"/>
            <a:ext cx="3779215"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Batasan Prototipe</a:t>
            </a:r>
            <a:endParaRPr lang="en-US" sz="1400" dirty="0"/>
          </a:p>
        </p:txBody>
      </p:sp>
      <p:sp>
        <p:nvSpPr>
          <p:cNvPr id="12" name="Shape 10"/>
          <p:cNvSpPr/>
          <p:nvPr/>
        </p:nvSpPr>
        <p:spPr>
          <a:xfrm>
            <a:off x="7498080" y="2441448"/>
            <a:ext cx="548640" cy="548640"/>
          </a:xfrm>
          <a:prstGeom prst="ellipse">
            <a:avLst/>
          </a:prstGeom>
          <a:solidFill>
            <a:srgbClr val="1C7293"/>
          </a:solidFill>
          <a:ln/>
        </p:spPr>
      </p:sp>
      <p:pic>
        <p:nvPicPr>
          <p:cNvPr id="13" name="Image 0" descr="E:\_tmp_pptx_build\icons\filetext.png">    </p:cNvPr>
          <p:cNvPicPr>
            <a:picLocks noChangeAspect="1"/>
          </p:cNvPicPr>
          <p:nvPr/>
        </p:nvPicPr>
        <p:blipFill>
          <a:blip r:embed="rId1"/>
          <a:stretch>
            <a:fillRect/>
          </a:stretch>
        </p:blipFill>
        <p:spPr>
          <a:xfrm>
            <a:off x="7640726" y="2584094"/>
            <a:ext cx="263347" cy="263347"/>
          </a:xfrm>
          <a:prstGeom prst="rect">
            <a:avLst/>
          </a:prstGeom>
        </p:spPr>
      </p:pic>
      <p:sp>
        <p:nvSpPr>
          <p:cNvPr id="14" name="Text 11"/>
          <p:cNvSpPr/>
          <p:nvPr/>
        </p:nvSpPr>
        <p:spPr>
          <a:xfrm>
            <a:off x="8183880" y="2423160"/>
            <a:ext cx="3184855" cy="868680"/>
          </a:xfrm>
          <a:prstGeom prst="rect">
            <a:avLst/>
          </a:prstGeom>
          <a:noFill/>
          <a:ln/>
        </p:spPr>
        <p:txBody>
          <a:bodyPr wrap="square" rtlCol="0" anchor="t"/>
          <a:lstStyle/>
          <a:p>
            <a:pPr indent="0" marL="0">
              <a:lnSpc>
                <a:spcPct val="115000"/>
              </a:lnSpc>
              <a:buNone/>
            </a:pPr>
            <a:r>
              <a:rPr lang="en-US" sz="1100" dirty="0">
                <a:solidFill>
                  <a:srgbClr val="E6EEF5"/>
                </a:solidFill>
                <a:latin typeface="Calibri" pitchFamily="34" charset="0"/>
                <a:ea typeface="Calibri" pitchFamily="34" charset="-122"/>
                <a:cs typeface="Calibri" pitchFamily="34" charset="-120"/>
              </a:rPr>
              <a:t>3 berkas teks sintetis tetap di fixtures/ — bukan hasil unggahan sungguhan</a:t>
            </a:r>
            <a:endParaRPr lang="en-US" sz="1100" dirty="0"/>
          </a:p>
        </p:txBody>
      </p:sp>
      <p:sp>
        <p:nvSpPr>
          <p:cNvPr id="15" name="Shape 12"/>
          <p:cNvSpPr/>
          <p:nvPr/>
        </p:nvSpPr>
        <p:spPr>
          <a:xfrm>
            <a:off x="7498080" y="3401568"/>
            <a:ext cx="548640" cy="548640"/>
          </a:xfrm>
          <a:prstGeom prst="ellipse">
            <a:avLst/>
          </a:prstGeom>
          <a:solidFill>
            <a:srgbClr val="1C7293"/>
          </a:solidFill>
          <a:ln/>
        </p:spPr>
      </p:sp>
      <p:pic>
        <p:nvPicPr>
          <p:cNvPr id="16" name="Image 1" descr="E:\_tmp_pptx_build\icons\code.png">    </p:cNvPr>
          <p:cNvPicPr>
            <a:picLocks noChangeAspect="1"/>
          </p:cNvPicPr>
          <p:nvPr/>
        </p:nvPicPr>
        <p:blipFill>
          <a:blip r:embed="rId2"/>
          <a:stretch>
            <a:fillRect/>
          </a:stretch>
        </p:blipFill>
        <p:spPr>
          <a:xfrm>
            <a:off x="7640726" y="3544214"/>
            <a:ext cx="263347" cy="263347"/>
          </a:xfrm>
          <a:prstGeom prst="rect">
            <a:avLst/>
          </a:prstGeom>
        </p:spPr>
      </p:pic>
      <p:sp>
        <p:nvSpPr>
          <p:cNvPr id="17" name="Text 13"/>
          <p:cNvSpPr/>
          <p:nvPr/>
        </p:nvSpPr>
        <p:spPr>
          <a:xfrm>
            <a:off x="8183880" y="3383280"/>
            <a:ext cx="3184855" cy="868680"/>
          </a:xfrm>
          <a:prstGeom prst="rect">
            <a:avLst/>
          </a:prstGeom>
          <a:noFill/>
          <a:ln/>
        </p:spPr>
        <p:txBody>
          <a:bodyPr wrap="square" rtlCol="0" anchor="t"/>
          <a:lstStyle/>
          <a:p>
            <a:pPr indent="0" marL="0">
              <a:lnSpc>
                <a:spcPct val="115000"/>
              </a:lnSpc>
              <a:buNone/>
            </a:pPr>
            <a:r>
              <a:rPr lang="en-US" sz="1100" dirty="0">
                <a:solidFill>
                  <a:srgbClr val="E6EEF5"/>
                </a:solidFill>
                <a:latin typeface="Calibri" pitchFamily="34" charset="0"/>
                <a:ea typeface="Calibri" pitchFamily="34" charset="-122"/>
                <a:cs typeface="Calibri" pitchFamily="34" charset="-120"/>
              </a:rPr>
              <a:t>Hanya operation: "word_count" yang didukung saat ini</a:t>
            </a:r>
            <a:endParaRPr lang="en-US" sz="1100" dirty="0"/>
          </a:p>
        </p:txBody>
      </p:sp>
      <p:sp>
        <p:nvSpPr>
          <p:cNvPr id="18" name="Shape 14"/>
          <p:cNvSpPr/>
          <p:nvPr/>
        </p:nvSpPr>
        <p:spPr>
          <a:xfrm>
            <a:off x="7498080" y="4361688"/>
            <a:ext cx="548640" cy="548640"/>
          </a:xfrm>
          <a:prstGeom prst="ellipse">
            <a:avLst/>
          </a:prstGeom>
          <a:solidFill>
            <a:srgbClr val="1C7293"/>
          </a:solidFill>
          <a:ln/>
        </p:spPr>
      </p:sp>
      <p:pic>
        <p:nvPicPr>
          <p:cNvPr id="19" name="Image 2" descr="E:\_tmp_pptx_build\icons\lock.png">    </p:cNvPr>
          <p:cNvPicPr>
            <a:picLocks noChangeAspect="1"/>
          </p:cNvPicPr>
          <p:nvPr/>
        </p:nvPicPr>
        <p:blipFill>
          <a:blip r:embed="rId3"/>
          <a:stretch>
            <a:fillRect/>
          </a:stretch>
        </p:blipFill>
        <p:spPr>
          <a:xfrm>
            <a:off x="7640726" y="4504334"/>
            <a:ext cx="263347" cy="263347"/>
          </a:xfrm>
          <a:prstGeom prst="rect">
            <a:avLst/>
          </a:prstGeom>
        </p:spPr>
      </p:pic>
      <p:sp>
        <p:nvSpPr>
          <p:cNvPr id="20" name="Text 15"/>
          <p:cNvSpPr/>
          <p:nvPr/>
        </p:nvSpPr>
        <p:spPr>
          <a:xfrm>
            <a:off x="8183880" y="4343400"/>
            <a:ext cx="3184855" cy="868680"/>
          </a:xfrm>
          <a:prstGeom prst="rect">
            <a:avLst/>
          </a:prstGeom>
          <a:noFill/>
          <a:ln/>
        </p:spPr>
        <p:txBody>
          <a:bodyPr wrap="square" rtlCol="0" anchor="t"/>
          <a:lstStyle/>
          <a:p>
            <a:pPr indent="0" marL="0">
              <a:lnSpc>
                <a:spcPct val="115000"/>
              </a:lnSpc>
              <a:buNone/>
            </a:pPr>
            <a:r>
              <a:rPr lang="en-US" sz="1100" dirty="0">
                <a:solidFill>
                  <a:srgbClr val="E6EEF5"/>
                </a:solidFill>
                <a:latin typeface="Calibri" pitchFamily="34" charset="0"/>
                <a:ea typeface="Calibri" pitchFamily="34" charset="-122"/>
                <a:cs typeface="Calibri" pitchFamily="34" charset="-120"/>
              </a:rPr>
              <a:t>file_id cuma kunci lookup ke fixture terdaftar, tidak pernah path/URL bebas</a:t>
            </a:r>
            <a:endParaRPr lang="en-US" sz="1100" dirty="0"/>
          </a:p>
        </p:txBody>
      </p:sp>
      <p:sp>
        <p:nvSpPr>
          <p:cNvPr id="21" name="Text 16"/>
          <p:cNvSpPr/>
          <p:nvPr/>
        </p:nvSpPr>
        <p:spPr>
          <a:xfrm>
            <a:off x="7589520" y="5577840"/>
            <a:ext cx="3779215" cy="502920"/>
          </a:xfrm>
          <a:prstGeom prst="rect">
            <a:avLst/>
          </a:prstGeom>
          <a:noFill/>
          <a:ln/>
        </p:spPr>
        <p:txBody>
          <a:bodyPr wrap="square" rtlCol="0" anchor="ctr"/>
          <a:lstStyle/>
          <a:p>
            <a:pPr indent="0" marL="0">
              <a:buNone/>
            </a:pPr>
            <a:r>
              <a:rPr lang="en-US" sz="1050" i="1" dirty="0">
                <a:solidFill>
                  <a:srgbClr val="9AB6D6"/>
                </a:solidFill>
                <a:latin typeface="Calibri" pitchFamily="34" charset="0"/>
                <a:ea typeface="Calibri" pitchFamily="34" charset="-122"/>
                <a:cs typeface="Calibri" pitchFamily="34" charset="-120"/>
              </a:rPr>
              <a:t>Pola integrasi: W — satu worker, fokus pembagian pekerjaan &amp; pemulihan consumer.</a:t>
            </a:r>
            <a:endParaRPr lang="en-US" sz="1050" dirty="0"/>
          </a:p>
        </p:txBody>
      </p:sp>
      <p:sp>
        <p:nvSpPr>
          <p:cNvPr id="22" name="Text 17"/>
          <p:cNvSpPr/>
          <p:nvPr/>
        </p:nvSpPr>
        <p:spPr>
          <a:xfrm>
            <a:off x="10728655" y="6400800"/>
            <a:ext cx="1097280" cy="274320"/>
          </a:xfrm>
          <a:prstGeom prst="rect">
            <a:avLst/>
          </a:prstGeom>
          <a:noFill/>
          <a:ln/>
        </p:spPr>
        <p:txBody>
          <a:bodyPr wrap="square" rtlCol="0" anchor="ctr"/>
          <a:lstStyle/>
          <a:p>
            <a:pPr algn="r" indent="0" marL="0">
              <a:buNone/>
            </a:pPr>
            <a:r>
              <a:rPr lang="en-US" sz="900" dirty="0">
                <a:solidFill>
                  <a:srgbClr val="5B6B78"/>
                </a:solidFill>
                <a:latin typeface="Calibri" pitchFamily="34" charset="0"/>
                <a:ea typeface="Calibri" pitchFamily="34" charset="-122"/>
                <a:cs typeface="Calibri" pitchFamily="34" charset="-120"/>
              </a:rPr>
              <a:t>02 / 12</a:t>
            </a:r>
            <a:endParaRPr lang="en-US" sz="900" dirty="0"/>
          </a:p>
        </p:txBody>
      </p:sp>
      <p:sp>
        <p:nvSpPr>
          <p:cNvPr id="23" name="Text 18"/>
          <p:cNvSpPr/>
          <p:nvPr/>
        </p:nvSpPr>
        <p:spPr>
          <a:xfrm>
            <a:off x="548640" y="6400800"/>
            <a:ext cx="3657600" cy="274320"/>
          </a:xfrm>
          <a:prstGeom prst="rect">
            <a:avLst/>
          </a:prstGeom>
          <a:noFill/>
          <a:ln/>
        </p:spPr>
        <p:txBody>
          <a:bodyPr wrap="square" rtlCol="0" anchor="ctr"/>
          <a:lstStyle/>
          <a:p>
            <a:pPr indent="0" marL="0">
              <a:buNone/>
            </a:pPr>
            <a:r>
              <a:rPr lang="en-US" sz="900" dirty="0">
                <a:solidFill>
                  <a:srgbClr val="5B6B78"/>
                </a:solidFill>
                <a:latin typeface="Calibri" pitchFamily="34" charset="0"/>
                <a:ea typeface="Calibri" pitchFamily="34" charset="-122"/>
                <a:cs typeface="Calibri" pitchFamily="34" charset="-120"/>
              </a:rPr>
              <a:t>A04-W · Pengolahan Berkas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rtlCol="0" anchor="ctr"/>
          <a:lstStyle/>
          <a:p>
            <a:pPr algn="l" indent="0" marL="0">
              <a:buNone/>
            </a:pPr>
            <a:r>
              <a:rPr lang="en-US" sz="1200" b="1" spc="200" kern="0" dirty="0">
                <a:solidFill>
                  <a:srgbClr val="1C7293"/>
                </a:solidFill>
                <a:latin typeface="Calibri" pitchFamily="34" charset="0"/>
                <a:ea typeface="Calibri" pitchFamily="34" charset="-122"/>
                <a:cs typeface="Calibri" pitchFamily="34" charset="-120"/>
              </a:rPr>
              <a:t>02 · ARSITEKTUR &amp; TOPOLOGI</a:t>
            </a:r>
            <a:endParaRPr lang="en-US" sz="1200" dirty="0"/>
          </a:p>
        </p:txBody>
      </p:sp>
      <p:sp>
        <p:nvSpPr>
          <p:cNvPr id="3" name="Text 1"/>
          <p:cNvSpPr/>
          <p:nvPr/>
        </p:nvSpPr>
        <p:spPr>
          <a:xfrm>
            <a:off x="548640" y="658368"/>
            <a:ext cx="11094415" cy="777240"/>
          </a:xfrm>
          <a:prstGeom prst="rect">
            <a:avLst/>
          </a:prstGeom>
          <a:noFill/>
          <a:ln/>
        </p:spPr>
        <p:txBody>
          <a:bodyPr wrap="square" rtlCol="0" anchor="ctr"/>
          <a:lstStyle/>
          <a:p>
            <a:pPr algn="l" indent="0" marL="0">
              <a:buNone/>
            </a:pPr>
            <a:r>
              <a:rPr lang="en-US" sz="3200" b="1" dirty="0">
                <a:solidFill>
                  <a:srgbClr val="1B2733"/>
                </a:solidFill>
                <a:latin typeface="Cambria" pitchFamily="34" charset="0"/>
                <a:ea typeface="Cambria" pitchFamily="34" charset="-122"/>
                <a:cs typeface="Cambria" pitchFamily="34" charset="-120"/>
              </a:rPr>
              <a:t>Alur pesan: producer → exchange → queue → worker → PostgreSQL</a:t>
            </a:r>
            <a:endParaRPr lang="en-US" sz="3200" dirty="0"/>
          </a:p>
        </p:txBody>
      </p:sp>
      <p:sp>
        <p:nvSpPr>
          <p:cNvPr id="4" name="Shape 2"/>
          <p:cNvSpPr/>
          <p:nvPr/>
        </p:nvSpPr>
        <p:spPr>
          <a:xfrm>
            <a:off x="548640" y="2148840"/>
            <a:ext cx="1783080" cy="1234440"/>
          </a:xfrm>
          <a:prstGeom prst="roundRect">
            <a:avLst>
              <a:gd name="adj" fmla="val 7407"/>
            </a:avLst>
          </a:prstGeom>
          <a:solidFill>
            <a:srgbClr val="FFFFFF"/>
          </a:solidFill>
          <a:ln w="12700">
            <a:solidFill>
              <a:srgbClr val="D7E1E8"/>
            </a:solidFill>
            <a:prstDash val="solid"/>
          </a:ln>
          <a:effectLst>
            <a:outerShdw sx="100000" sy="100000" kx="0" ky="0" algn="bl" rotWithShape="0" blurRad="101600" dist="38100" dir="5400000">
              <a:srgbClr val="1B2733">
                <a:alpha val="18000"/>
              </a:srgbClr>
            </a:outerShdw>
          </a:effectLst>
        </p:spPr>
      </p:sp>
      <p:sp>
        <p:nvSpPr>
          <p:cNvPr id="5" name="Shape 3"/>
          <p:cNvSpPr/>
          <p:nvPr/>
        </p:nvSpPr>
        <p:spPr>
          <a:xfrm>
            <a:off x="1131570" y="2259940"/>
            <a:ext cx="617220" cy="617220"/>
          </a:xfrm>
          <a:prstGeom prst="ellipse">
            <a:avLst/>
          </a:prstGeom>
          <a:solidFill>
            <a:srgbClr val="065A82"/>
          </a:solidFill>
          <a:ln/>
        </p:spPr>
      </p:sp>
      <p:pic>
        <p:nvPicPr>
          <p:cNvPr id="6" name="Image 0" descr="E:\_tmp_pptx_build\icons\upload.png">    </p:cNvPr>
          <p:cNvPicPr>
            <a:picLocks noChangeAspect="1"/>
          </p:cNvPicPr>
          <p:nvPr/>
        </p:nvPicPr>
        <p:blipFill>
          <a:blip r:embed="rId1"/>
          <a:stretch>
            <a:fillRect/>
          </a:stretch>
        </p:blipFill>
        <p:spPr>
          <a:xfrm>
            <a:off x="1292047" y="2420417"/>
            <a:ext cx="296266" cy="296266"/>
          </a:xfrm>
          <a:prstGeom prst="rect">
            <a:avLst/>
          </a:prstGeom>
        </p:spPr>
      </p:pic>
      <p:sp>
        <p:nvSpPr>
          <p:cNvPr id="7" name="Text 4"/>
          <p:cNvSpPr/>
          <p:nvPr/>
        </p:nvSpPr>
        <p:spPr>
          <a:xfrm>
            <a:off x="594360" y="2889504"/>
            <a:ext cx="1691640" cy="274320"/>
          </a:xfrm>
          <a:prstGeom prst="rect">
            <a:avLst/>
          </a:prstGeom>
          <a:noFill/>
          <a:ln/>
        </p:spPr>
        <p:txBody>
          <a:bodyPr wrap="square" rtlCol="0" anchor="ctr"/>
          <a:lstStyle/>
          <a:p>
            <a:pPr algn="ctr" indent="0" marL="0">
              <a:buNone/>
            </a:pPr>
            <a:r>
              <a:rPr lang="en-US" sz="1250" b="1" dirty="0">
                <a:solidFill>
                  <a:srgbClr val="1B2733"/>
                </a:solidFill>
                <a:latin typeface="Calibri" pitchFamily="34" charset="0"/>
                <a:ea typeface="Calibri" pitchFamily="34" charset="-122"/>
                <a:cs typeface="Calibri" pitchFamily="34" charset="-120"/>
              </a:rPr>
              <a:t>Producer</a:t>
            </a:r>
            <a:endParaRPr lang="en-US" sz="1250" dirty="0"/>
          </a:p>
        </p:txBody>
      </p:sp>
      <p:sp>
        <p:nvSpPr>
          <p:cNvPr id="8" name="Text 5"/>
          <p:cNvSpPr/>
          <p:nvPr/>
        </p:nvSpPr>
        <p:spPr>
          <a:xfrm>
            <a:off x="594360" y="3145536"/>
            <a:ext cx="1691640" cy="320040"/>
          </a:xfrm>
          <a:prstGeom prst="rect">
            <a:avLst/>
          </a:prstGeom>
          <a:noFill/>
          <a:ln/>
        </p:spPr>
        <p:txBody>
          <a:bodyPr wrap="square" rtlCol="0" anchor="ctr"/>
          <a:lstStyle/>
          <a:p>
            <a:pPr algn="ctr" indent="0" marL="0">
              <a:buNone/>
            </a:pPr>
            <a:r>
              <a:rPr lang="en-US" sz="950" dirty="0">
                <a:solidFill>
                  <a:srgbClr val="5B6B78"/>
                </a:solidFill>
                <a:latin typeface="Calibri" pitchFamily="34" charset="0"/>
                <a:ea typeface="Calibri" pitchFamily="34" charset="-122"/>
                <a:cs typeface="Calibri" pitchFamily="34" charset="-120"/>
              </a:rPr>
              <a:t>produsen.js</a:t>
            </a:r>
            <a:endParaRPr lang="en-US" sz="950" dirty="0"/>
          </a:p>
        </p:txBody>
      </p:sp>
      <p:sp>
        <p:nvSpPr>
          <p:cNvPr id="9" name="Shape 6"/>
          <p:cNvSpPr/>
          <p:nvPr/>
        </p:nvSpPr>
        <p:spPr>
          <a:xfrm>
            <a:off x="2368296" y="2665476"/>
            <a:ext cx="384048" cy="201168"/>
          </a:xfrm>
          <a:prstGeom prst="rightArrow">
            <a:avLst/>
          </a:prstGeom>
          <a:solidFill>
            <a:srgbClr val="1C7293"/>
          </a:solidFill>
          <a:ln/>
        </p:spPr>
      </p:sp>
      <p:sp>
        <p:nvSpPr>
          <p:cNvPr id="10" name="Shape 7"/>
          <p:cNvSpPr/>
          <p:nvPr/>
        </p:nvSpPr>
        <p:spPr>
          <a:xfrm>
            <a:off x="2788920" y="2148840"/>
            <a:ext cx="1783080" cy="1234440"/>
          </a:xfrm>
          <a:prstGeom prst="roundRect">
            <a:avLst>
              <a:gd name="adj" fmla="val 7407"/>
            </a:avLst>
          </a:prstGeom>
          <a:solidFill>
            <a:srgbClr val="FFFFFF"/>
          </a:solidFill>
          <a:ln w="12700">
            <a:solidFill>
              <a:srgbClr val="D7E1E8"/>
            </a:solidFill>
            <a:prstDash val="solid"/>
          </a:ln>
          <a:effectLst>
            <a:outerShdw sx="100000" sy="100000" kx="0" ky="0" algn="bl" rotWithShape="0" blurRad="101600" dist="38100" dir="5400000">
              <a:srgbClr val="1B2733">
                <a:alpha val="18000"/>
              </a:srgbClr>
            </a:outerShdw>
          </a:effectLst>
        </p:spPr>
      </p:sp>
      <p:sp>
        <p:nvSpPr>
          <p:cNvPr id="11" name="Shape 8"/>
          <p:cNvSpPr/>
          <p:nvPr/>
        </p:nvSpPr>
        <p:spPr>
          <a:xfrm>
            <a:off x="3371850" y="2259940"/>
            <a:ext cx="617220" cy="617220"/>
          </a:xfrm>
          <a:prstGeom prst="ellipse">
            <a:avLst/>
          </a:prstGeom>
          <a:solidFill>
            <a:srgbClr val="065A82"/>
          </a:solidFill>
          <a:ln/>
        </p:spPr>
      </p:sp>
      <p:pic>
        <p:nvPicPr>
          <p:cNvPr id="12" name="Image 1" descr="E:\_tmp_pptx_build\icons\gitbranch.png">    </p:cNvPr>
          <p:cNvPicPr>
            <a:picLocks noChangeAspect="1"/>
          </p:cNvPicPr>
          <p:nvPr/>
        </p:nvPicPr>
        <p:blipFill>
          <a:blip r:embed="rId2"/>
          <a:stretch>
            <a:fillRect/>
          </a:stretch>
        </p:blipFill>
        <p:spPr>
          <a:xfrm>
            <a:off x="3532327" y="2420417"/>
            <a:ext cx="296266" cy="296266"/>
          </a:xfrm>
          <a:prstGeom prst="rect">
            <a:avLst/>
          </a:prstGeom>
        </p:spPr>
      </p:pic>
      <p:sp>
        <p:nvSpPr>
          <p:cNvPr id="13" name="Text 9"/>
          <p:cNvSpPr/>
          <p:nvPr/>
        </p:nvSpPr>
        <p:spPr>
          <a:xfrm>
            <a:off x="2834640" y="2889504"/>
            <a:ext cx="1691640" cy="274320"/>
          </a:xfrm>
          <a:prstGeom prst="rect">
            <a:avLst/>
          </a:prstGeom>
          <a:noFill/>
          <a:ln/>
        </p:spPr>
        <p:txBody>
          <a:bodyPr wrap="square" rtlCol="0" anchor="ctr"/>
          <a:lstStyle/>
          <a:p>
            <a:pPr algn="ctr" indent="0" marL="0">
              <a:buNone/>
            </a:pPr>
            <a:r>
              <a:rPr lang="en-US" sz="1250" b="1" dirty="0">
                <a:solidFill>
                  <a:srgbClr val="1B2733"/>
                </a:solidFill>
                <a:latin typeface="Calibri" pitchFamily="34" charset="0"/>
                <a:ea typeface="Calibri" pitchFamily="34" charset="-122"/>
                <a:cs typeface="Calibri" pitchFamily="34" charset="-120"/>
              </a:rPr>
              <a:t>Exchange files</a:t>
            </a:r>
            <a:endParaRPr lang="en-US" sz="1250" dirty="0"/>
          </a:p>
        </p:txBody>
      </p:sp>
      <p:sp>
        <p:nvSpPr>
          <p:cNvPr id="14" name="Text 10"/>
          <p:cNvSpPr/>
          <p:nvPr/>
        </p:nvSpPr>
        <p:spPr>
          <a:xfrm>
            <a:off x="2834640" y="3145536"/>
            <a:ext cx="1691640" cy="320040"/>
          </a:xfrm>
          <a:prstGeom prst="rect">
            <a:avLst/>
          </a:prstGeom>
          <a:noFill/>
          <a:ln/>
        </p:spPr>
        <p:txBody>
          <a:bodyPr wrap="square" rtlCol="0" anchor="ctr"/>
          <a:lstStyle/>
          <a:p>
            <a:pPr algn="ctr" indent="0" marL="0">
              <a:buNone/>
            </a:pPr>
            <a:r>
              <a:rPr lang="en-US" sz="950" dirty="0">
                <a:solidFill>
                  <a:srgbClr val="5B6B78"/>
                </a:solidFill>
                <a:latin typeface="Calibri" pitchFamily="34" charset="0"/>
                <a:ea typeface="Calibri" pitchFamily="34" charset="-122"/>
                <a:cs typeface="Calibri" pitchFamily="34" charset="-120"/>
              </a:rPr>
              <a:t>direct, rk: file.process</a:t>
            </a:r>
            <a:endParaRPr lang="en-US" sz="950" dirty="0"/>
          </a:p>
        </p:txBody>
      </p:sp>
      <p:sp>
        <p:nvSpPr>
          <p:cNvPr id="15" name="Shape 11"/>
          <p:cNvSpPr/>
          <p:nvPr/>
        </p:nvSpPr>
        <p:spPr>
          <a:xfrm>
            <a:off x="4608576" y="2665476"/>
            <a:ext cx="384048" cy="201168"/>
          </a:xfrm>
          <a:prstGeom prst="rightArrow">
            <a:avLst/>
          </a:prstGeom>
          <a:solidFill>
            <a:srgbClr val="1C7293"/>
          </a:solidFill>
          <a:ln/>
        </p:spPr>
      </p:sp>
      <p:sp>
        <p:nvSpPr>
          <p:cNvPr id="16" name="Shape 12"/>
          <p:cNvSpPr/>
          <p:nvPr/>
        </p:nvSpPr>
        <p:spPr>
          <a:xfrm>
            <a:off x="5029200" y="2148840"/>
            <a:ext cx="1783080" cy="1234440"/>
          </a:xfrm>
          <a:prstGeom prst="roundRect">
            <a:avLst>
              <a:gd name="adj" fmla="val 7407"/>
            </a:avLst>
          </a:prstGeom>
          <a:solidFill>
            <a:srgbClr val="FFFFFF"/>
          </a:solidFill>
          <a:ln w="12700">
            <a:solidFill>
              <a:srgbClr val="D7E1E8"/>
            </a:solidFill>
            <a:prstDash val="solid"/>
          </a:ln>
          <a:effectLst>
            <a:outerShdw sx="100000" sy="100000" kx="0" ky="0" algn="bl" rotWithShape="0" blurRad="101600" dist="38100" dir="5400000">
              <a:srgbClr val="1B2733">
                <a:alpha val="18000"/>
              </a:srgbClr>
            </a:outerShdw>
          </a:effectLst>
        </p:spPr>
      </p:sp>
      <p:sp>
        <p:nvSpPr>
          <p:cNvPr id="17" name="Shape 13"/>
          <p:cNvSpPr/>
          <p:nvPr/>
        </p:nvSpPr>
        <p:spPr>
          <a:xfrm>
            <a:off x="5612130" y="2259940"/>
            <a:ext cx="617220" cy="617220"/>
          </a:xfrm>
          <a:prstGeom prst="ellipse">
            <a:avLst/>
          </a:prstGeom>
          <a:solidFill>
            <a:srgbClr val="065A82"/>
          </a:solidFill>
          <a:ln/>
        </p:spPr>
      </p:sp>
      <p:pic>
        <p:nvPicPr>
          <p:cNvPr id="18" name="Image 2" descr="E:\_tmp_pptx_build\icons\list.png">    </p:cNvPr>
          <p:cNvPicPr>
            <a:picLocks noChangeAspect="1"/>
          </p:cNvPicPr>
          <p:nvPr/>
        </p:nvPicPr>
        <p:blipFill>
          <a:blip r:embed="rId3"/>
          <a:stretch>
            <a:fillRect/>
          </a:stretch>
        </p:blipFill>
        <p:spPr>
          <a:xfrm>
            <a:off x="5772607" y="2420417"/>
            <a:ext cx="296266" cy="296266"/>
          </a:xfrm>
          <a:prstGeom prst="rect">
            <a:avLst/>
          </a:prstGeom>
        </p:spPr>
      </p:pic>
      <p:sp>
        <p:nvSpPr>
          <p:cNvPr id="19" name="Text 14"/>
          <p:cNvSpPr/>
          <p:nvPr/>
        </p:nvSpPr>
        <p:spPr>
          <a:xfrm>
            <a:off x="5074920" y="2889504"/>
            <a:ext cx="1691640" cy="274320"/>
          </a:xfrm>
          <a:prstGeom prst="rect">
            <a:avLst/>
          </a:prstGeom>
          <a:noFill/>
          <a:ln/>
        </p:spPr>
        <p:txBody>
          <a:bodyPr wrap="square" rtlCol="0" anchor="ctr"/>
          <a:lstStyle/>
          <a:p>
            <a:pPr algn="ctr" indent="0" marL="0">
              <a:buNone/>
            </a:pPr>
            <a:r>
              <a:rPr lang="en-US" sz="1250" b="1" dirty="0">
                <a:solidFill>
                  <a:srgbClr val="1B2733"/>
                </a:solidFill>
                <a:latin typeface="Calibri" pitchFamily="34" charset="0"/>
                <a:ea typeface="Calibri" pitchFamily="34" charset="-122"/>
                <a:cs typeface="Calibri" pitchFamily="34" charset="-120"/>
              </a:rPr>
              <a:t>Queue filejobs</a:t>
            </a:r>
            <a:endParaRPr lang="en-US" sz="1250" dirty="0"/>
          </a:p>
        </p:txBody>
      </p:sp>
      <p:sp>
        <p:nvSpPr>
          <p:cNvPr id="20" name="Text 15"/>
          <p:cNvSpPr/>
          <p:nvPr/>
        </p:nvSpPr>
        <p:spPr>
          <a:xfrm>
            <a:off x="5074920" y="3145536"/>
            <a:ext cx="1691640" cy="320040"/>
          </a:xfrm>
          <a:prstGeom prst="rect">
            <a:avLst/>
          </a:prstGeom>
          <a:noFill/>
          <a:ln/>
        </p:spPr>
        <p:txBody>
          <a:bodyPr wrap="square" rtlCol="0" anchor="ctr"/>
          <a:lstStyle/>
          <a:p>
            <a:pPr algn="ctr" indent="0" marL="0">
              <a:buNone/>
            </a:pPr>
            <a:r>
              <a:rPr lang="en-US" sz="950" dirty="0">
                <a:solidFill>
                  <a:srgbClr val="5B6B78"/>
                </a:solidFill>
                <a:latin typeface="Calibri" pitchFamily="34" charset="0"/>
                <a:ea typeface="Calibri" pitchFamily="34" charset="-122"/>
                <a:cs typeface="Calibri" pitchFamily="34" charset="-120"/>
              </a:rPr>
              <a:t>prefetch = 1</a:t>
            </a:r>
            <a:endParaRPr lang="en-US" sz="950" dirty="0"/>
          </a:p>
        </p:txBody>
      </p:sp>
      <p:sp>
        <p:nvSpPr>
          <p:cNvPr id="21" name="Shape 16"/>
          <p:cNvSpPr/>
          <p:nvPr/>
        </p:nvSpPr>
        <p:spPr>
          <a:xfrm>
            <a:off x="6848856" y="2665476"/>
            <a:ext cx="384048" cy="201168"/>
          </a:xfrm>
          <a:prstGeom prst="rightArrow">
            <a:avLst/>
          </a:prstGeom>
          <a:solidFill>
            <a:srgbClr val="1C7293"/>
          </a:solidFill>
          <a:ln/>
        </p:spPr>
      </p:sp>
      <p:sp>
        <p:nvSpPr>
          <p:cNvPr id="22" name="Shape 17"/>
          <p:cNvSpPr/>
          <p:nvPr/>
        </p:nvSpPr>
        <p:spPr>
          <a:xfrm>
            <a:off x="7269480" y="2148840"/>
            <a:ext cx="1783080" cy="1234440"/>
          </a:xfrm>
          <a:prstGeom prst="roundRect">
            <a:avLst>
              <a:gd name="adj" fmla="val 7407"/>
            </a:avLst>
          </a:prstGeom>
          <a:solidFill>
            <a:srgbClr val="FFFFFF"/>
          </a:solidFill>
          <a:ln w="12700">
            <a:solidFill>
              <a:srgbClr val="D7E1E8"/>
            </a:solidFill>
            <a:prstDash val="solid"/>
          </a:ln>
          <a:effectLst>
            <a:outerShdw sx="100000" sy="100000" kx="0" ky="0" algn="bl" rotWithShape="0" blurRad="101600" dist="38100" dir="5400000">
              <a:srgbClr val="1B2733">
                <a:alpha val="18000"/>
              </a:srgbClr>
            </a:outerShdw>
          </a:effectLst>
        </p:spPr>
      </p:sp>
      <p:sp>
        <p:nvSpPr>
          <p:cNvPr id="23" name="Shape 18"/>
          <p:cNvSpPr/>
          <p:nvPr/>
        </p:nvSpPr>
        <p:spPr>
          <a:xfrm>
            <a:off x="7852410" y="2259940"/>
            <a:ext cx="617220" cy="617220"/>
          </a:xfrm>
          <a:prstGeom prst="ellipse">
            <a:avLst/>
          </a:prstGeom>
          <a:solidFill>
            <a:srgbClr val="065A82"/>
          </a:solidFill>
          <a:ln/>
        </p:spPr>
      </p:sp>
      <p:pic>
        <p:nvPicPr>
          <p:cNvPr id="24" name="Image 3" descr="E:\_tmp_pptx_build\icons\cpu.png">    </p:cNvPr>
          <p:cNvPicPr>
            <a:picLocks noChangeAspect="1"/>
          </p:cNvPicPr>
          <p:nvPr/>
        </p:nvPicPr>
        <p:blipFill>
          <a:blip r:embed="rId4"/>
          <a:stretch>
            <a:fillRect/>
          </a:stretch>
        </p:blipFill>
        <p:spPr>
          <a:xfrm>
            <a:off x="8012887" y="2420417"/>
            <a:ext cx="296266" cy="296266"/>
          </a:xfrm>
          <a:prstGeom prst="rect">
            <a:avLst/>
          </a:prstGeom>
        </p:spPr>
      </p:pic>
      <p:sp>
        <p:nvSpPr>
          <p:cNvPr id="25" name="Text 19"/>
          <p:cNvSpPr/>
          <p:nvPr/>
        </p:nvSpPr>
        <p:spPr>
          <a:xfrm>
            <a:off x="7315200" y="2889504"/>
            <a:ext cx="1691640" cy="274320"/>
          </a:xfrm>
          <a:prstGeom prst="rect">
            <a:avLst/>
          </a:prstGeom>
          <a:noFill/>
          <a:ln/>
        </p:spPr>
        <p:txBody>
          <a:bodyPr wrap="square" rtlCol="0" anchor="ctr"/>
          <a:lstStyle/>
          <a:p>
            <a:pPr algn="ctr" indent="0" marL="0">
              <a:buNone/>
            </a:pPr>
            <a:r>
              <a:rPr lang="en-US" sz="1250" b="1" dirty="0">
                <a:solidFill>
                  <a:srgbClr val="1B2733"/>
                </a:solidFill>
                <a:latin typeface="Calibri" pitchFamily="34" charset="0"/>
                <a:ea typeface="Calibri" pitchFamily="34" charset="-122"/>
                <a:cs typeface="Calibri" pitchFamily="34" charset="-120"/>
              </a:rPr>
              <a:t>Worker</a:t>
            </a:r>
            <a:endParaRPr lang="en-US" sz="1250" dirty="0"/>
          </a:p>
        </p:txBody>
      </p:sp>
      <p:sp>
        <p:nvSpPr>
          <p:cNvPr id="26" name="Text 20"/>
          <p:cNvSpPr/>
          <p:nvPr/>
        </p:nvSpPr>
        <p:spPr>
          <a:xfrm>
            <a:off x="7315200" y="3145536"/>
            <a:ext cx="1691640" cy="320040"/>
          </a:xfrm>
          <a:prstGeom prst="rect">
            <a:avLst/>
          </a:prstGeom>
          <a:noFill/>
          <a:ln/>
        </p:spPr>
        <p:txBody>
          <a:bodyPr wrap="square" rtlCol="0" anchor="ctr"/>
          <a:lstStyle/>
          <a:p>
            <a:pPr algn="ctr" indent="0" marL="0">
              <a:buNone/>
            </a:pPr>
            <a:r>
              <a:rPr lang="en-US" sz="950" dirty="0">
                <a:solidFill>
                  <a:srgbClr val="5B6B78"/>
                </a:solidFill>
                <a:latin typeface="Calibri" pitchFamily="34" charset="0"/>
                <a:ea typeface="Calibri" pitchFamily="34" charset="-122"/>
                <a:cs typeface="Calibri" pitchFamily="34" charset="-120"/>
              </a:rPr>
              <a:t>pekerja.js</a:t>
            </a:r>
            <a:endParaRPr lang="en-US" sz="950" dirty="0"/>
          </a:p>
        </p:txBody>
      </p:sp>
      <p:sp>
        <p:nvSpPr>
          <p:cNvPr id="27" name="Shape 21"/>
          <p:cNvSpPr/>
          <p:nvPr/>
        </p:nvSpPr>
        <p:spPr>
          <a:xfrm>
            <a:off x="9089136" y="2665476"/>
            <a:ext cx="384048" cy="201168"/>
          </a:xfrm>
          <a:prstGeom prst="rightArrow">
            <a:avLst/>
          </a:prstGeom>
          <a:solidFill>
            <a:srgbClr val="1C7293"/>
          </a:solidFill>
          <a:ln/>
        </p:spPr>
      </p:sp>
      <p:sp>
        <p:nvSpPr>
          <p:cNvPr id="28" name="Shape 22"/>
          <p:cNvSpPr/>
          <p:nvPr/>
        </p:nvSpPr>
        <p:spPr>
          <a:xfrm>
            <a:off x="9509760" y="2148840"/>
            <a:ext cx="1783080" cy="1234440"/>
          </a:xfrm>
          <a:prstGeom prst="roundRect">
            <a:avLst>
              <a:gd name="adj" fmla="val 7407"/>
            </a:avLst>
          </a:prstGeom>
          <a:solidFill>
            <a:srgbClr val="FFFFFF"/>
          </a:solidFill>
          <a:ln w="12700">
            <a:solidFill>
              <a:srgbClr val="D7E1E8"/>
            </a:solidFill>
            <a:prstDash val="solid"/>
          </a:ln>
          <a:effectLst>
            <a:outerShdw sx="100000" sy="100000" kx="0" ky="0" algn="bl" rotWithShape="0" blurRad="101600" dist="38100" dir="5400000">
              <a:srgbClr val="1B2733">
                <a:alpha val="18000"/>
              </a:srgbClr>
            </a:outerShdw>
          </a:effectLst>
        </p:spPr>
      </p:sp>
      <p:sp>
        <p:nvSpPr>
          <p:cNvPr id="29" name="Shape 23"/>
          <p:cNvSpPr/>
          <p:nvPr/>
        </p:nvSpPr>
        <p:spPr>
          <a:xfrm>
            <a:off x="10092690" y="2259940"/>
            <a:ext cx="617220" cy="617220"/>
          </a:xfrm>
          <a:prstGeom prst="ellipse">
            <a:avLst/>
          </a:prstGeom>
          <a:solidFill>
            <a:srgbClr val="065A82"/>
          </a:solidFill>
          <a:ln/>
        </p:spPr>
      </p:sp>
      <p:pic>
        <p:nvPicPr>
          <p:cNvPr id="30" name="Image 4" descr="E:\_tmp_pptx_build\icons\database.png">    </p:cNvPr>
          <p:cNvPicPr>
            <a:picLocks noChangeAspect="1"/>
          </p:cNvPicPr>
          <p:nvPr/>
        </p:nvPicPr>
        <p:blipFill>
          <a:blip r:embed="rId5"/>
          <a:stretch>
            <a:fillRect/>
          </a:stretch>
        </p:blipFill>
        <p:spPr>
          <a:xfrm>
            <a:off x="10253167" y="2420417"/>
            <a:ext cx="296266" cy="296266"/>
          </a:xfrm>
          <a:prstGeom prst="rect">
            <a:avLst/>
          </a:prstGeom>
        </p:spPr>
      </p:pic>
      <p:sp>
        <p:nvSpPr>
          <p:cNvPr id="31" name="Text 24"/>
          <p:cNvSpPr/>
          <p:nvPr/>
        </p:nvSpPr>
        <p:spPr>
          <a:xfrm>
            <a:off x="9555480" y="2889504"/>
            <a:ext cx="1691640" cy="274320"/>
          </a:xfrm>
          <a:prstGeom prst="rect">
            <a:avLst/>
          </a:prstGeom>
          <a:noFill/>
          <a:ln/>
        </p:spPr>
        <p:txBody>
          <a:bodyPr wrap="square" rtlCol="0" anchor="ctr"/>
          <a:lstStyle/>
          <a:p>
            <a:pPr algn="ctr" indent="0" marL="0">
              <a:buNone/>
            </a:pPr>
            <a:r>
              <a:rPr lang="en-US" sz="1250" b="1" dirty="0">
                <a:solidFill>
                  <a:srgbClr val="1B2733"/>
                </a:solidFill>
                <a:latin typeface="Calibri" pitchFamily="34" charset="0"/>
                <a:ea typeface="Calibri" pitchFamily="34" charset="-122"/>
                <a:cs typeface="Calibri" pitchFamily="34" charset="-120"/>
              </a:rPr>
              <a:t>PostgreSQL</a:t>
            </a:r>
            <a:endParaRPr lang="en-US" sz="1250" dirty="0"/>
          </a:p>
        </p:txBody>
      </p:sp>
      <p:sp>
        <p:nvSpPr>
          <p:cNvPr id="32" name="Text 25"/>
          <p:cNvSpPr/>
          <p:nvPr/>
        </p:nvSpPr>
        <p:spPr>
          <a:xfrm>
            <a:off x="9555480" y="3145536"/>
            <a:ext cx="1691640" cy="320040"/>
          </a:xfrm>
          <a:prstGeom prst="rect">
            <a:avLst/>
          </a:prstGeom>
          <a:noFill/>
          <a:ln/>
        </p:spPr>
        <p:txBody>
          <a:bodyPr wrap="square" rtlCol="0" anchor="ctr"/>
          <a:lstStyle/>
          <a:p>
            <a:pPr algn="ctr" indent="0" marL="0">
              <a:buNone/>
            </a:pPr>
            <a:r>
              <a:rPr lang="en-US" sz="950" dirty="0">
                <a:solidFill>
                  <a:srgbClr val="5B6B78"/>
                </a:solidFill>
                <a:latin typeface="Calibri" pitchFamily="34" charset="0"/>
                <a:ea typeface="Calibri" pitchFamily="34" charset="-122"/>
                <a:cs typeface="Calibri" pitchFamily="34" charset="-120"/>
              </a:rPr>
              <a:t>file_results</a:t>
            </a:r>
            <a:endParaRPr lang="en-US" sz="950" dirty="0"/>
          </a:p>
        </p:txBody>
      </p:sp>
      <p:sp>
        <p:nvSpPr>
          <p:cNvPr id="33" name="Shape 26"/>
          <p:cNvSpPr/>
          <p:nvPr/>
        </p:nvSpPr>
        <p:spPr>
          <a:xfrm>
            <a:off x="3579876" y="3456432"/>
            <a:ext cx="201168" cy="365760"/>
          </a:xfrm>
          <a:prstGeom prst="downArrow">
            <a:avLst/>
          </a:prstGeom>
          <a:solidFill>
            <a:srgbClr val="5B6B78"/>
          </a:solidFill>
          <a:ln/>
        </p:spPr>
      </p:sp>
      <p:sp>
        <p:nvSpPr>
          <p:cNvPr id="34" name="Shape 27"/>
          <p:cNvSpPr/>
          <p:nvPr/>
        </p:nvSpPr>
        <p:spPr>
          <a:xfrm>
            <a:off x="2651760" y="3886200"/>
            <a:ext cx="2057400" cy="1234440"/>
          </a:xfrm>
          <a:prstGeom prst="roundRect">
            <a:avLst>
              <a:gd name="adj" fmla="val 5926"/>
            </a:avLst>
          </a:prstGeom>
          <a:solidFill>
            <a:srgbClr val="F4F7FA"/>
          </a:solidFill>
          <a:ln/>
        </p:spPr>
      </p:sp>
      <p:sp>
        <p:nvSpPr>
          <p:cNvPr id="35" name="Shape 28"/>
          <p:cNvSpPr/>
          <p:nvPr/>
        </p:nvSpPr>
        <p:spPr>
          <a:xfrm>
            <a:off x="3474720" y="4000500"/>
            <a:ext cx="411480" cy="411480"/>
          </a:xfrm>
          <a:prstGeom prst="ellipse">
            <a:avLst/>
          </a:prstGeom>
          <a:solidFill>
            <a:srgbClr val="5B6B78"/>
          </a:solidFill>
          <a:ln/>
        </p:spPr>
      </p:sp>
      <p:pic>
        <p:nvPicPr>
          <p:cNvPr id="36" name="Image 5" descr="E:\_tmp_pptx_build\icons\alert.png">    </p:cNvPr>
          <p:cNvPicPr>
            <a:picLocks noChangeAspect="1"/>
          </p:cNvPicPr>
          <p:nvPr/>
        </p:nvPicPr>
        <p:blipFill>
          <a:blip r:embed="rId6"/>
          <a:stretch>
            <a:fillRect/>
          </a:stretch>
        </p:blipFill>
        <p:spPr>
          <a:xfrm>
            <a:off x="3581705" y="4107485"/>
            <a:ext cx="197510" cy="197510"/>
          </a:xfrm>
          <a:prstGeom prst="rect">
            <a:avLst/>
          </a:prstGeom>
        </p:spPr>
      </p:pic>
      <p:sp>
        <p:nvSpPr>
          <p:cNvPr id="37" name="Text 29"/>
          <p:cNvSpPr/>
          <p:nvPr/>
        </p:nvSpPr>
        <p:spPr>
          <a:xfrm>
            <a:off x="2651760" y="4453128"/>
            <a:ext cx="2057400" cy="228600"/>
          </a:xfrm>
          <a:prstGeom prst="rect">
            <a:avLst/>
          </a:prstGeom>
          <a:noFill/>
          <a:ln/>
        </p:spPr>
        <p:txBody>
          <a:bodyPr wrap="square" rtlCol="0" anchor="ctr"/>
          <a:lstStyle/>
          <a:p>
            <a:pPr algn="ctr" indent="0" marL="0">
              <a:buNone/>
            </a:pPr>
            <a:r>
              <a:rPr lang="en-US" sz="1000" b="1" dirty="0">
                <a:solidFill>
                  <a:srgbClr val="1B2733"/>
                </a:solidFill>
                <a:latin typeface="Calibri" pitchFamily="34" charset="0"/>
                <a:ea typeface="Calibri" pitchFamily="34" charset="-122"/>
                <a:cs typeface="Calibri" pitchFamily="34" charset="-120"/>
              </a:rPr>
              <a:t>files.tanpa_rute.q</a:t>
            </a:r>
            <a:endParaRPr lang="en-US" sz="1000" dirty="0"/>
          </a:p>
        </p:txBody>
      </p:sp>
      <p:sp>
        <p:nvSpPr>
          <p:cNvPr id="38" name="Text 30"/>
          <p:cNvSpPr/>
          <p:nvPr/>
        </p:nvSpPr>
        <p:spPr>
          <a:xfrm>
            <a:off x="2651760" y="4681728"/>
            <a:ext cx="2057400" cy="384048"/>
          </a:xfrm>
          <a:prstGeom prst="rect">
            <a:avLst/>
          </a:prstGeom>
          <a:noFill/>
          <a:ln/>
        </p:spPr>
        <p:txBody>
          <a:bodyPr wrap="square" rtlCol="0" anchor="ctr"/>
          <a:lstStyle/>
          <a:p>
            <a:pPr algn="ctr" indent="0" marL="0">
              <a:buNone/>
            </a:pPr>
            <a:r>
              <a:rPr lang="en-US" sz="850" dirty="0">
                <a:solidFill>
                  <a:srgbClr val="5B6B78"/>
                </a:solidFill>
                <a:latin typeface="Calibri" pitchFamily="34" charset="0"/>
                <a:ea typeface="Calibri" pitchFamily="34" charset="-122"/>
                <a:cs typeface="Calibri" pitchFamily="34" charset="-120"/>
              </a:rPr>
              <a:t>pesan tak ter-route — harus selalu 0</a:t>
            </a:r>
            <a:endParaRPr lang="en-US" sz="850" dirty="0"/>
          </a:p>
        </p:txBody>
      </p:sp>
      <p:sp>
        <p:nvSpPr>
          <p:cNvPr id="39" name="Shape 31"/>
          <p:cNvSpPr/>
          <p:nvPr/>
        </p:nvSpPr>
        <p:spPr>
          <a:xfrm>
            <a:off x="8060436" y="3456432"/>
            <a:ext cx="201168" cy="365760"/>
          </a:xfrm>
          <a:prstGeom prst="downArrow">
            <a:avLst/>
          </a:prstGeom>
          <a:solidFill>
            <a:srgbClr val="B3423A"/>
          </a:solidFill>
          <a:ln/>
        </p:spPr>
      </p:sp>
      <p:sp>
        <p:nvSpPr>
          <p:cNvPr id="40" name="Shape 32"/>
          <p:cNvSpPr/>
          <p:nvPr/>
        </p:nvSpPr>
        <p:spPr>
          <a:xfrm>
            <a:off x="7132320" y="3886200"/>
            <a:ext cx="2240280" cy="1234440"/>
          </a:xfrm>
          <a:prstGeom prst="roundRect">
            <a:avLst>
              <a:gd name="adj" fmla="val 5926"/>
            </a:avLst>
          </a:prstGeom>
          <a:solidFill>
            <a:srgbClr val="F4F7FA"/>
          </a:solidFill>
          <a:ln/>
        </p:spPr>
      </p:sp>
      <p:sp>
        <p:nvSpPr>
          <p:cNvPr id="41" name="Shape 33"/>
          <p:cNvSpPr/>
          <p:nvPr/>
        </p:nvSpPr>
        <p:spPr>
          <a:xfrm>
            <a:off x="7955280" y="4000500"/>
            <a:ext cx="411480" cy="411480"/>
          </a:xfrm>
          <a:prstGeom prst="ellipse">
            <a:avLst/>
          </a:prstGeom>
          <a:solidFill>
            <a:srgbClr val="B3423A"/>
          </a:solidFill>
          <a:ln/>
        </p:spPr>
      </p:sp>
      <p:pic>
        <p:nvPicPr>
          <p:cNvPr id="42" name="Image 6" descr="E:\_tmp_pptx_build\icons\xcircle.png">    </p:cNvPr>
          <p:cNvPicPr>
            <a:picLocks noChangeAspect="1"/>
          </p:cNvPicPr>
          <p:nvPr/>
        </p:nvPicPr>
        <p:blipFill>
          <a:blip r:embed="rId7"/>
          <a:stretch>
            <a:fillRect/>
          </a:stretch>
        </p:blipFill>
        <p:spPr>
          <a:xfrm>
            <a:off x="8062265" y="4107485"/>
            <a:ext cx="197510" cy="197510"/>
          </a:xfrm>
          <a:prstGeom prst="rect">
            <a:avLst/>
          </a:prstGeom>
        </p:spPr>
      </p:pic>
      <p:sp>
        <p:nvSpPr>
          <p:cNvPr id="43" name="Text 34"/>
          <p:cNvSpPr/>
          <p:nvPr/>
        </p:nvSpPr>
        <p:spPr>
          <a:xfrm>
            <a:off x="7132320" y="4453128"/>
            <a:ext cx="2240280" cy="228600"/>
          </a:xfrm>
          <a:prstGeom prst="rect">
            <a:avLst/>
          </a:prstGeom>
          <a:noFill/>
          <a:ln/>
        </p:spPr>
        <p:txBody>
          <a:bodyPr wrap="square" rtlCol="0" anchor="ctr"/>
          <a:lstStyle/>
          <a:p>
            <a:pPr algn="ctr" indent="0" marL="0">
              <a:buNone/>
            </a:pPr>
            <a:r>
              <a:rPr lang="en-US" sz="1000" b="1" dirty="0">
                <a:solidFill>
                  <a:srgbClr val="1B2733"/>
                </a:solidFill>
                <a:latin typeface="Calibri" pitchFamily="34" charset="0"/>
                <a:ea typeface="Calibri" pitchFamily="34" charset="-122"/>
                <a:cs typeface="Calibri" pitchFamily="34" charset="-120"/>
              </a:rPr>
              <a:t>files.penolakan.q</a:t>
            </a:r>
            <a:endParaRPr lang="en-US" sz="1000" dirty="0"/>
          </a:p>
        </p:txBody>
      </p:sp>
      <p:sp>
        <p:nvSpPr>
          <p:cNvPr id="44" name="Text 35"/>
          <p:cNvSpPr/>
          <p:nvPr/>
        </p:nvSpPr>
        <p:spPr>
          <a:xfrm>
            <a:off x="7132320" y="4681728"/>
            <a:ext cx="2240280" cy="384048"/>
          </a:xfrm>
          <a:prstGeom prst="rect">
            <a:avLst/>
          </a:prstGeom>
          <a:noFill/>
          <a:ln/>
        </p:spPr>
        <p:txBody>
          <a:bodyPr wrap="square" rtlCol="0" anchor="ctr"/>
          <a:lstStyle/>
          <a:p>
            <a:pPr algn="ctr" indent="0" marL="0">
              <a:buNone/>
            </a:pPr>
            <a:r>
              <a:rPr lang="en-US" sz="850" dirty="0">
                <a:solidFill>
                  <a:srgbClr val="5B6B78"/>
                </a:solidFill>
                <a:latin typeface="Calibri" pitchFamily="34" charset="0"/>
                <a:ea typeface="Calibri" pitchFamily="34" charset="-122"/>
                <a:cs typeface="Calibri" pitchFamily="34" charset="-120"/>
              </a:rPr>
              <a:t>invalid → nack → dead-letter exchange</a:t>
            </a:r>
            <a:endParaRPr lang="en-US" sz="850" dirty="0"/>
          </a:p>
        </p:txBody>
      </p:sp>
      <p:sp>
        <p:nvSpPr>
          <p:cNvPr id="45" name="Shape 36"/>
          <p:cNvSpPr/>
          <p:nvPr/>
        </p:nvSpPr>
        <p:spPr>
          <a:xfrm>
            <a:off x="548640" y="5303520"/>
            <a:ext cx="11094415" cy="868680"/>
          </a:xfrm>
          <a:prstGeom prst="roundRect">
            <a:avLst>
              <a:gd name="adj" fmla="val 8421"/>
            </a:avLst>
          </a:prstGeom>
          <a:solidFill>
            <a:srgbClr val="21295C"/>
          </a:solidFill>
          <a:ln/>
        </p:spPr>
      </p:sp>
      <p:sp>
        <p:nvSpPr>
          <p:cNvPr id="46" name="Text 37"/>
          <p:cNvSpPr/>
          <p:nvPr/>
        </p:nvSpPr>
        <p:spPr>
          <a:xfrm>
            <a:off x="822960" y="5303520"/>
            <a:ext cx="2834640" cy="86868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Kenapa direct + pola W?</a:t>
            </a:r>
            <a:endParaRPr lang="en-US" sz="1300" dirty="0"/>
          </a:p>
        </p:txBody>
      </p:sp>
      <p:sp>
        <p:nvSpPr>
          <p:cNvPr id="47" name="Text 38"/>
          <p:cNvSpPr/>
          <p:nvPr/>
        </p:nvSpPr>
        <p:spPr>
          <a:xfrm>
            <a:off x="3749040" y="5303520"/>
            <a:ext cx="7619695" cy="868680"/>
          </a:xfrm>
          <a:prstGeom prst="rect">
            <a:avLst/>
          </a:prstGeom>
          <a:noFill/>
          <a:ln/>
        </p:spPr>
        <p:txBody>
          <a:bodyPr wrap="square" rtlCol="0" anchor="ctr"/>
          <a:lstStyle/>
          <a:p>
            <a:pPr indent="0" marL="0">
              <a:lnSpc>
                <a:spcPct val="120000"/>
              </a:lnSpc>
              <a:buNone/>
            </a:pPr>
            <a:r>
              <a:rPr lang="en-US" sz="1100" dirty="0">
                <a:solidFill>
                  <a:srgbClr val="E6EEF5"/>
                </a:solidFill>
                <a:latin typeface="Calibri" pitchFamily="34" charset="0"/>
                <a:ea typeface="Calibri" pitchFamily="34" charset="-122"/>
                <a:cs typeface="Calibri" pitchFamily="34" charset="-120"/>
              </a:rPr>
              <a:t>Satu jenis pekerjaan, satu routing key (file.process), banyak consumer bisa bersaing pada satu queue kerja — tanpa mengubah topologi saat worker kedua ditambahkan.</a:t>
            </a:r>
            <a:endParaRPr lang="en-US" sz="1100" dirty="0"/>
          </a:p>
        </p:txBody>
      </p:sp>
      <p:sp>
        <p:nvSpPr>
          <p:cNvPr id="48" name="Text 39"/>
          <p:cNvSpPr/>
          <p:nvPr/>
        </p:nvSpPr>
        <p:spPr>
          <a:xfrm>
            <a:off x="10728655" y="6400800"/>
            <a:ext cx="1097280" cy="274320"/>
          </a:xfrm>
          <a:prstGeom prst="rect">
            <a:avLst/>
          </a:prstGeom>
          <a:noFill/>
          <a:ln/>
        </p:spPr>
        <p:txBody>
          <a:bodyPr wrap="square" rtlCol="0" anchor="ctr"/>
          <a:lstStyle/>
          <a:p>
            <a:pPr algn="r" indent="0" marL="0">
              <a:buNone/>
            </a:pPr>
            <a:r>
              <a:rPr lang="en-US" sz="900" dirty="0">
                <a:solidFill>
                  <a:srgbClr val="5B6B78"/>
                </a:solidFill>
                <a:latin typeface="Calibri" pitchFamily="34" charset="0"/>
                <a:ea typeface="Calibri" pitchFamily="34" charset="-122"/>
                <a:cs typeface="Calibri" pitchFamily="34" charset="-120"/>
              </a:rPr>
              <a:t>03 / 12</a:t>
            </a:r>
            <a:endParaRPr lang="en-US" sz="900" dirty="0"/>
          </a:p>
        </p:txBody>
      </p:sp>
      <p:sp>
        <p:nvSpPr>
          <p:cNvPr id="49" name="Text 40"/>
          <p:cNvSpPr/>
          <p:nvPr/>
        </p:nvSpPr>
        <p:spPr>
          <a:xfrm>
            <a:off x="548640" y="6400800"/>
            <a:ext cx="3657600" cy="274320"/>
          </a:xfrm>
          <a:prstGeom prst="rect">
            <a:avLst/>
          </a:prstGeom>
          <a:noFill/>
          <a:ln/>
        </p:spPr>
        <p:txBody>
          <a:bodyPr wrap="square" rtlCol="0" anchor="ctr"/>
          <a:lstStyle/>
          <a:p>
            <a:pPr indent="0" marL="0">
              <a:buNone/>
            </a:pPr>
            <a:r>
              <a:rPr lang="en-US" sz="900" dirty="0">
                <a:solidFill>
                  <a:srgbClr val="5B6B78"/>
                </a:solidFill>
                <a:latin typeface="Calibri" pitchFamily="34" charset="0"/>
                <a:ea typeface="Calibri" pitchFamily="34" charset="-122"/>
                <a:cs typeface="Calibri" pitchFamily="34" charset="-120"/>
              </a:rPr>
              <a:t>A04-W · Pengolahan Berkas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rtlCol="0" anchor="ctr"/>
          <a:lstStyle/>
          <a:p>
            <a:pPr algn="l" indent="0" marL="0">
              <a:buNone/>
            </a:pPr>
            <a:r>
              <a:rPr lang="en-US" sz="1200" b="1" spc="200" kern="0" dirty="0">
                <a:solidFill>
                  <a:srgbClr val="1C7293"/>
                </a:solidFill>
                <a:latin typeface="Calibri" pitchFamily="34" charset="0"/>
                <a:ea typeface="Calibri" pitchFamily="34" charset="-122"/>
                <a:cs typeface="Calibri" pitchFamily="34" charset="-120"/>
              </a:rPr>
              <a:t>02 · ARSITEKTUR &amp; TOPOLOGI</a:t>
            </a:r>
            <a:endParaRPr lang="en-US" sz="1200" dirty="0"/>
          </a:p>
        </p:txBody>
      </p:sp>
      <p:sp>
        <p:nvSpPr>
          <p:cNvPr id="3" name="Text 1"/>
          <p:cNvSpPr/>
          <p:nvPr/>
        </p:nvSpPr>
        <p:spPr>
          <a:xfrm>
            <a:off x="548640" y="658368"/>
            <a:ext cx="11094415" cy="777240"/>
          </a:xfrm>
          <a:prstGeom prst="rect">
            <a:avLst/>
          </a:prstGeom>
          <a:noFill/>
          <a:ln/>
        </p:spPr>
        <p:txBody>
          <a:bodyPr wrap="square" rtlCol="0" anchor="ctr"/>
          <a:lstStyle/>
          <a:p>
            <a:pPr algn="l" indent="0" marL="0">
              <a:buNone/>
            </a:pPr>
            <a:r>
              <a:rPr lang="en-US" sz="3200" b="1" dirty="0">
                <a:solidFill>
                  <a:srgbClr val="1B2733"/>
                </a:solidFill>
                <a:latin typeface="Cambria" pitchFamily="34" charset="0"/>
                <a:ea typeface="Cambria" pitchFamily="34" charset="-122"/>
                <a:cs typeface="Cambria" pitchFamily="34" charset="-120"/>
              </a:rPr>
              <a:t>Deklarasi exchange &amp; queue, dan bukti pesan benar-benar sampai</a:t>
            </a:r>
            <a:endParaRPr lang="en-US" sz="3200" dirty="0"/>
          </a:p>
        </p:txBody>
      </p:sp>
      <p:sp>
        <p:nvSpPr>
          <p:cNvPr id="4" name="Shape 2"/>
          <p:cNvSpPr/>
          <p:nvPr/>
        </p:nvSpPr>
        <p:spPr>
          <a:xfrm>
            <a:off x="548640" y="1691640"/>
            <a:ext cx="5577840" cy="4480560"/>
          </a:xfrm>
          <a:prstGeom prst="roundRect">
            <a:avLst>
              <a:gd name="adj" fmla="val 1633"/>
            </a:avLst>
          </a:prstGeom>
          <a:solidFill>
            <a:srgbClr val="F4F7FA"/>
          </a:solidFill>
          <a:ln/>
        </p:spPr>
      </p:sp>
      <p:sp>
        <p:nvSpPr>
          <p:cNvPr id="5" name="Text 3"/>
          <p:cNvSpPr/>
          <p:nvPr/>
        </p:nvSpPr>
        <p:spPr>
          <a:xfrm>
            <a:off x="822960" y="1874520"/>
            <a:ext cx="5029200" cy="320040"/>
          </a:xfrm>
          <a:prstGeom prst="rect">
            <a:avLst/>
          </a:prstGeom>
          <a:noFill/>
          <a:ln/>
        </p:spPr>
        <p:txBody>
          <a:bodyPr wrap="square"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Exchange &amp; Queue</a:t>
            </a:r>
            <a:endParaRPr lang="en-US" sz="1400" dirty="0"/>
          </a:p>
        </p:txBody>
      </p:sp>
      <p:sp>
        <p:nvSpPr>
          <p:cNvPr id="6" name="Text 4"/>
          <p:cNvSpPr/>
          <p:nvPr/>
        </p:nvSpPr>
        <p:spPr>
          <a:xfrm>
            <a:off x="822960" y="2331720"/>
            <a:ext cx="1737360" cy="502920"/>
          </a:xfrm>
          <a:prstGeom prst="rect">
            <a:avLst/>
          </a:prstGeom>
          <a:noFill/>
          <a:ln/>
        </p:spPr>
        <p:txBody>
          <a:bodyPr wrap="square" rtlCol="0" anchor="t"/>
          <a:lstStyle/>
          <a:p>
            <a:pPr indent="0" marL="0">
              <a:buNone/>
            </a:pPr>
            <a:r>
              <a:rPr lang="en-US" sz="1150" b="1" dirty="0">
                <a:solidFill>
                  <a:srgbClr val="1B2733"/>
                </a:solidFill>
                <a:latin typeface="Calibri" pitchFamily="34" charset="0"/>
                <a:ea typeface="Calibri" pitchFamily="34" charset="-122"/>
                <a:cs typeface="Calibri" pitchFamily="34" charset="-120"/>
              </a:rPr>
              <a:t>files</a:t>
            </a:r>
            <a:endParaRPr lang="en-US" sz="1150" dirty="0"/>
          </a:p>
        </p:txBody>
      </p:sp>
      <p:sp>
        <p:nvSpPr>
          <p:cNvPr id="7" name="Text 5"/>
          <p:cNvSpPr/>
          <p:nvPr/>
        </p:nvSpPr>
        <p:spPr>
          <a:xfrm>
            <a:off x="2560320" y="2331720"/>
            <a:ext cx="3291840" cy="502920"/>
          </a:xfrm>
          <a:prstGeom prst="rect">
            <a:avLst/>
          </a:prstGeom>
          <a:noFill/>
          <a:ln/>
        </p:spPr>
        <p:txBody>
          <a:bodyPr wrap="square" rtlCol="0" anchor="t"/>
          <a:lstStyle/>
          <a:p>
            <a:pPr indent="0" marL="0">
              <a:lnSpc>
                <a:spcPct val="110000"/>
              </a:lnSpc>
              <a:buNone/>
            </a:pPr>
            <a:r>
              <a:rPr lang="en-US" sz="1050" dirty="0">
                <a:solidFill>
                  <a:srgbClr val="5B6B78"/>
                </a:solidFill>
                <a:latin typeface="Calibri" pitchFamily="34" charset="0"/>
                <a:ea typeface="Calibri" pitchFamily="34" charset="-122"/>
                <a:cs typeface="Calibri" pitchFamily="34" charset="-120"/>
              </a:rPr>
              <a:t>direct, durable — alternateExchange: files.tanpa_rute</a:t>
            </a:r>
            <a:endParaRPr lang="en-US" sz="1050" dirty="0"/>
          </a:p>
        </p:txBody>
      </p:sp>
      <p:sp>
        <p:nvSpPr>
          <p:cNvPr id="8" name="Text 6"/>
          <p:cNvSpPr/>
          <p:nvPr/>
        </p:nvSpPr>
        <p:spPr>
          <a:xfrm>
            <a:off x="822960" y="2926080"/>
            <a:ext cx="1737360" cy="502920"/>
          </a:xfrm>
          <a:prstGeom prst="rect">
            <a:avLst/>
          </a:prstGeom>
          <a:noFill/>
          <a:ln/>
        </p:spPr>
        <p:txBody>
          <a:bodyPr wrap="square" rtlCol="0" anchor="t"/>
          <a:lstStyle/>
          <a:p>
            <a:pPr indent="0" marL="0">
              <a:buNone/>
            </a:pPr>
            <a:r>
              <a:rPr lang="en-US" sz="1150" b="1" dirty="0">
                <a:solidFill>
                  <a:srgbClr val="1B2733"/>
                </a:solidFill>
                <a:latin typeface="Calibri" pitchFamily="34" charset="0"/>
                <a:ea typeface="Calibri" pitchFamily="34" charset="-122"/>
                <a:cs typeface="Calibri" pitchFamily="34" charset="-120"/>
              </a:rPr>
              <a:t>filejobs</a:t>
            </a:r>
            <a:endParaRPr lang="en-US" sz="1150" dirty="0"/>
          </a:p>
        </p:txBody>
      </p:sp>
      <p:sp>
        <p:nvSpPr>
          <p:cNvPr id="9" name="Text 7"/>
          <p:cNvSpPr/>
          <p:nvPr/>
        </p:nvSpPr>
        <p:spPr>
          <a:xfrm>
            <a:off x="2560320" y="2926080"/>
            <a:ext cx="3291840" cy="502920"/>
          </a:xfrm>
          <a:prstGeom prst="rect">
            <a:avLst/>
          </a:prstGeom>
          <a:noFill/>
          <a:ln/>
        </p:spPr>
        <p:txBody>
          <a:bodyPr wrap="square" rtlCol="0" anchor="t"/>
          <a:lstStyle/>
          <a:p>
            <a:pPr indent="0" marL="0">
              <a:lnSpc>
                <a:spcPct val="110000"/>
              </a:lnSpc>
              <a:buNone/>
            </a:pPr>
            <a:r>
              <a:rPr lang="en-US" sz="1050" dirty="0">
                <a:solidFill>
                  <a:srgbClr val="5B6B78"/>
                </a:solidFill>
                <a:latin typeface="Calibri" pitchFamily="34" charset="0"/>
                <a:ea typeface="Calibri" pitchFamily="34" charset="-122"/>
                <a:cs typeface="Calibri" pitchFamily="34" charset="-120"/>
              </a:rPr>
              <a:t>queue kerja — binding rk=file.process, durable+persistent</a:t>
            </a:r>
            <a:endParaRPr lang="en-US" sz="1050" dirty="0"/>
          </a:p>
        </p:txBody>
      </p:sp>
      <p:sp>
        <p:nvSpPr>
          <p:cNvPr id="10" name="Text 8"/>
          <p:cNvSpPr/>
          <p:nvPr/>
        </p:nvSpPr>
        <p:spPr>
          <a:xfrm>
            <a:off x="822960" y="3520440"/>
            <a:ext cx="1737360" cy="502920"/>
          </a:xfrm>
          <a:prstGeom prst="rect">
            <a:avLst/>
          </a:prstGeom>
          <a:noFill/>
          <a:ln/>
        </p:spPr>
        <p:txBody>
          <a:bodyPr wrap="square" rtlCol="0" anchor="t"/>
          <a:lstStyle/>
          <a:p>
            <a:pPr indent="0" marL="0">
              <a:buNone/>
            </a:pPr>
            <a:r>
              <a:rPr lang="en-US" sz="1150" b="1" dirty="0">
                <a:solidFill>
                  <a:srgbClr val="1B2733"/>
                </a:solidFill>
                <a:latin typeface="Calibri" pitchFamily="34" charset="0"/>
                <a:ea typeface="Calibri" pitchFamily="34" charset="-122"/>
                <a:cs typeface="Calibri" pitchFamily="34" charset="-120"/>
              </a:rPr>
              <a:t>files.tanpa_rute</a:t>
            </a:r>
            <a:endParaRPr lang="en-US" sz="1150" dirty="0"/>
          </a:p>
        </p:txBody>
      </p:sp>
      <p:sp>
        <p:nvSpPr>
          <p:cNvPr id="11" name="Text 9"/>
          <p:cNvSpPr/>
          <p:nvPr/>
        </p:nvSpPr>
        <p:spPr>
          <a:xfrm>
            <a:off x="2560320" y="3520440"/>
            <a:ext cx="3291840" cy="502920"/>
          </a:xfrm>
          <a:prstGeom prst="rect">
            <a:avLst/>
          </a:prstGeom>
          <a:noFill/>
          <a:ln/>
        </p:spPr>
        <p:txBody>
          <a:bodyPr wrap="square" rtlCol="0" anchor="t"/>
          <a:lstStyle/>
          <a:p>
            <a:pPr indent="0" marL="0">
              <a:lnSpc>
                <a:spcPct val="110000"/>
              </a:lnSpc>
              <a:buNone/>
            </a:pPr>
            <a:r>
              <a:rPr lang="en-US" sz="1050" dirty="0">
                <a:solidFill>
                  <a:srgbClr val="5B6B78"/>
                </a:solidFill>
                <a:latin typeface="Calibri" pitchFamily="34" charset="0"/>
                <a:ea typeface="Calibri" pitchFamily="34" charset="-122"/>
                <a:cs typeface="Calibri" pitchFamily="34" charset="-120"/>
              </a:rPr>
              <a:t>fanout — menangkap pesan gagal cocok binding</a:t>
            </a:r>
            <a:endParaRPr lang="en-US" sz="1050" dirty="0"/>
          </a:p>
        </p:txBody>
      </p:sp>
      <p:sp>
        <p:nvSpPr>
          <p:cNvPr id="12" name="Text 10"/>
          <p:cNvSpPr/>
          <p:nvPr/>
        </p:nvSpPr>
        <p:spPr>
          <a:xfrm>
            <a:off x="822960" y="4114800"/>
            <a:ext cx="1737360" cy="502920"/>
          </a:xfrm>
          <a:prstGeom prst="rect">
            <a:avLst/>
          </a:prstGeom>
          <a:noFill/>
          <a:ln/>
        </p:spPr>
        <p:txBody>
          <a:bodyPr wrap="square" rtlCol="0" anchor="t"/>
          <a:lstStyle/>
          <a:p>
            <a:pPr indent="0" marL="0">
              <a:buNone/>
            </a:pPr>
            <a:r>
              <a:rPr lang="en-US" sz="1150" b="1" dirty="0">
                <a:solidFill>
                  <a:srgbClr val="1B2733"/>
                </a:solidFill>
                <a:latin typeface="Calibri" pitchFamily="34" charset="0"/>
                <a:ea typeface="Calibri" pitchFamily="34" charset="-122"/>
                <a:cs typeface="Calibri" pitchFamily="34" charset="-120"/>
              </a:rPr>
              <a:t>files.penolakan</a:t>
            </a:r>
            <a:endParaRPr lang="en-US" sz="1150" dirty="0"/>
          </a:p>
        </p:txBody>
      </p:sp>
      <p:sp>
        <p:nvSpPr>
          <p:cNvPr id="13" name="Text 11"/>
          <p:cNvSpPr/>
          <p:nvPr/>
        </p:nvSpPr>
        <p:spPr>
          <a:xfrm>
            <a:off x="2560320" y="4114800"/>
            <a:ext cx="3291840" cy="502920"/>
          </a:xfrm>
          <a:prstGeom prst="rect">
            <a:avLst/>
          </a:prstGeom>
          <a:noFill/>
          <a:ln/>
        </p:spPr>
        <p:txBody>
          <a:bodyPr wrap="square" rtlCol="0" anchor="t"/>
          <a:lstStyle/>
          <a:p>
            <a:pPr indent="0" marL="0">
              <a:lnSpc>
                <a:spcPct val="110000"/>
              </a:lnSpc>
              <a:buNone/>
            </a:pPr>
            <a:r>
              <a:rPr lang="en-US" sz="1050" dirty="0">
                <a:solidFill>
                  <a:srgbClr val="5B6B78"/>
                </a:solidFill>
                <a:latin typeface="Calibri" pitchFamily="34" charset="0"/>
                <a:ea typeface="Calibri" pitchFamily="34" charset="-122"/>
                <a:cs typeface="Calibri" pitchFamily="34" charset="-120"/>
              </a:rPr>
              <a:t>direct — tujuan dead-letter dari queue kerja</a:t>
            </a:r>
            <a:endParaRPr lang="en-US" sz="1050" dirty="0"/>
          </a:p>
        </p:txBody>
      </p:sp>
      <p:sp>
        <p:nvSpPr>
          <p:cNvPr id="14" name="Text 12"/>
          <p:cNvSpPr/>
          <p:nvPr/>
        </p:nvSpPr>
        <p:spPr>
          <a:xfrm>
            <a:off x="822960" y="4800600"/>
            <a:ext cx="5029200" cy="640080"/>
          </a:xfrm>
          <a:prstGeom prst="rect">
            <a:avLst/>
          </a:prstGeom>
          <a:noFill/>
          <a:ln/>
        </p:spPr>
        <p:txBody>
          <a:bodyPr wrap="square" rtlCol="0" anchor="ctr"/>
          <a:lstStyle/>
          <a:p>
            <a:pPr indent="0" marL="0">
              <a:buNone/>
            </a:pPr>
            <a:r>
              <a:rPr lang="en-US" sz="950" i="1" dirty="0">
                <a:solidFill>
                  <a:srgbClr val="5B6B78"/>
                </a:solidFill>
                <a:latin typeface="Calibri" pitchFamily="34" charset="0"/>
                <a:ea typeface="Calibri" pitchFamily="34" charset="-122"/>
                <a:cs typeface="Calibri" pitchFamily="34" charset="-120"/>
              </a:rPr>
              <a:t>Semua binding &amp; deklarasi ada di src/topologi.js, dijalankan sekali lewat npm run topologi:siapkan (idempoten).</a:t>
            </a:r>
            <a:endParaRPr lang="en-US" sz="950" dirty="0"/>
          </a:p>
        </p:txBody>
      </p:sp>
      <p:sp>
        <p:nvSpPr>
          <p:cNvPr id="15" name="Shape 13"/>
          <p:cNvSpPr/>
          <p:nvPr/>
        </p:nvSpPr>
        <p:spPr>
          <a:xfrm>
            <a:off x="6492240" y="1691640"/>
            <a:ext cx="5150815" cy="4480560"/>
          </a:xfrm>
          <a:prstGeom prst="roundRect">
            <a:avLst>
              <a:gd name="adj" fmla="val 1633"/>
            </a:avLst>
          </a:prstGeom>
          <a:solidFill>
            <a:srgbClr val="21295C"/>
          </a:solidFill>
          <a:ln/>
        </p:spPr>
      </p:sp>
      <p:sp>
        <p:nvSpPr>
          <p:cNvPr id="16" name="Shape 14"/>
          <p:cNvSpPr/>
          <p:nvPr/>
        </p:nvSpPr>
        <p:spPr>
          <a:xfrm>
            <a:off x="6766560" y="2011680"/>
            <a:ext cx="640080" cy="640080"/>
          </a:xfrm>
          <a:prstGeom prst="ellipse">
            <a:avLst/>
          </a:prstGeom>
          <a:solidFill>
            <a:srgbClr val="1C7293"/>
          </a:solidFill>
          <a:ln/>
        </p:spPr>
      </p:sp>
      <p:pic>
        <p:nvPicPr>
          <p:cNvPr id="17" name="Image 0" descr="E:\_tmp_pptx_build\icons\shield.png">    </p:cNvPr>
          <p:cNvPicPr>
            <a:picLocks noChangeAspect="1"/>
          </p:cNvPicPr>
          <p:nvPr/>
        </p:nvPicPr>
        <p:blipFill>
          <a:blip r:embed="rId1"/>
          <a:stretch>
            <a:fillRect/>
          </a:stretch>
        </p:blipFill>
        <p:spPr>
          <a:xfrm>
            <a:off x="6932981" y="2178101"/>
            <a:ext cx="307238" cy="307238"/>
          </a:xfrm>
          <a:prstGeom prst="rect">
            <a:avLst/>
          </a:prstGeom>
        </p:spPr>
      </p:pic>
      <p:sp>
        <p:nvSpPr>
          <p:cNvPr id="18" name="Text 15"/>
          <p:cNvSpPr/>
          <p:nvPr/>
        </p:nvSpPr>
        <p:spPr>
          <a:xfrm>
            <a:off x="7543800" y="2011680"/>
            <a:ext cx="3824935" cy="594360"/>
          </a:xfrm>
          <a:prstGeom prst="rect">
            <a:avLst/>
          </a:prstGeom>
          <a:noFill/>
          <a:ln/>
        </p:spPr>
        <p:txBody>
          <a:bodyPr wrap="square"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Publisher confirm saja tidak cukup</a:t>
            </a:r>
            <a:endParaRPr lang="en-US" sz="1300" dirty="0"/>
          </a:p>
        </p:txBody>
      </p:sp>
      <p:sp>
        <p:nvSpPr>
          <p:cNvPr id="19" name="Text 16"/>
          <p:cNvSpPr/>
          <p:nvPr/>
        </p:nvSpPr>
        <p:spPr>
          <a:xfrm>
            <a:off x="6812280" y="2788920"/>
            <a:ext cx="4510735" cy="868680"/>
          </a:xfrm>
          <a:prstGeom prst="rect">
            <a:avLst/>
          </a:prstGeom>
          <a:noFill/>
          <a:ln/>
        </p:spPr>
        <p:txBody>
          <a:bodyPr wrap="square" rtlCol="0" anchor="ctr"/>
          <a:lstStyle/>
          <a:p>
            <a:pPr indent="0" marL="0">
              <a:lnSpc>
                <a:spcPct val="120000"/>
              </a:lnSpc>
              <a:buNone/>
            </a:pPr>
            <a:r>
              <a:rPr lang="en-US" sz="1050" dirty="0">
                <a:solidFill>
                  <a:srgbClr val="CADCFC"/>
                </a:solidFill>
                <a:latin typeface="Calibri" pitchFamily="34" charset="0"/>
                <a:ea typeface="Calibri" pitchFamily="34" charset="-122"/>
                <a:cs typeface="Calibri" pitchFamily="34" charset="-120"/>
              </a:rPr>
              <a:t>Confirm channel + mandatory:true hanya membuktikan broker menerima pesan — bukan pesan sampai ke queue tujuan. Dua lapis pembuktian dipakai:</a:t>
            </a:r>
            <a:endParaRPr lang="en-US" sz="1050" dirty="0"/>
          </a:p>
        </p:txBody>
      </p:sp>
      <p:sp>
        <p:nvSpPr>
          <p:cNvPr id="20" name="Text 17"/>
          <p:cNvSpPr/>
          <p:nvPr/>
        </p:nvSpPr>
        <p:spPr>
          <a:xfrm>
            <a:off x="6812280" y="3749040"/>
            <a:ext cx="320040" cy="320040"/>
          </a:xfrm>
          <a:prstGeom prst="rect">
            <a:avLst/>
          </a:prstGeom>
          <a:noFill/>
          <a:ln/>
        </p:spPr>
        <p:txBody>
          <a:bodyPr wrap="square" rtlCol="0" anchor="ctr"/>
          <a:lstStyle/>
          <a:p>
            <a:pPr indent="0" marL="0">
              <a:buNone/>
            </a:pPr>
            <a:r>
              <a:rPr lang="en-US" sz="1200" b="1" dirty="0">
                <a:solidFill>
                  <a:srgbClr val="C98A3A"/>
                </a:solidFill>
                <a:latin typeface="Calibri" pitchFamily="34" charset="0"/>
                <a:ea typeface="Calibri" pitchFamily="34" charset="-122"/>
                <a:cs typeface="Calibri" pitchFamily="34" charset="-120"/>
              </a:rPr>
              <a:t>1</a:t>
            </a:r>
            <a:endParaRPr lang="en-US" sz="1200" dirty="0"/>
          </a:p>
        </p:txBody>
      </p:sp>
      <p:sp>
        <p:nvSpPr>
          <p:cNvPr id="21" name="Text 18"/>
          <p:cNvSpPr/>
          <p:nvPr/>
        </p:nvSpPr>
        <p:spPr>
          <a:xfrm>
            <a:off x="7178040" y="3749040"/>
            <a:ext cx="4144975" cy="777240"/>
          </a:xfrm>
          <a:prstGeom prst="rect">
            <a:avLst/>
          </a:prstGeom>
          <a:noFill/>
          <a:ln/>
        </p:spPr>
        <p:txBody>
          <a:bodyPr wrap="square" rtlCol="0" anchor="t"/>
          <a:lstStyle/>
          <a:p>
            <a:pPr indent="0" marL="0">
              <a:lnSpc>
                <a:spcPct val="120000"/>
              </a:lnSpc>
              <a:buNone/>
            </a:pPr>
            <a:r>
              <a:rPr lang="en-US" sz="1050" dirty="0">
                <a:solidFill>
                  <a:srgbClr val="E6EEF5"/>
                </a:solidFill>
                <a:latin typeface="Calibri" pitchFamily="34" charset="0"/>
                <a:ea typeface="Calibri" pitchFamily="34" charset="-122"/>
                <a:cs typeface="Calibri" pitchFamily="34" charset="-120"/>
              </a:rPr>
              <a:t>alternateExchange — pesan gagal cocok binding tetap tertangkap, tidak pernah hilang diam-diam</a:t>
            </a:r>
            <a:endParaRPr lang="en-US" sz="1050" dirty="0"/>
          </a:p>
        </p:txBody>
      </p:sp>
      <p:sp>
        <p:nvSpPr>
          <p:cNvPr id="22" name="Text 19"/>
          <p:cNvSpPr/>
          <p:nvPr/>
        </p:nvSpPr>
        <p:spPr>
          <a:xfrm>
            <a:off x="6812280" y="4617720"/>
            <a:ext cx="320040" cy="320040"/>
          </a:xfrm>
          <a:prstGeom prst="rect">
            <a:avLst/>
          </a:prstGeom>
          <a:noFill/>
          <a:ln/>
        </p:spPr>
        <p:txBody>
          <a:bodyPr wrap="square" rtlCol="0" anchor="ctr"/>
          <a:lstStyle/>
          <a:p>
            <a:pPr indent="0" marL="0">
              <a:buNone/>
            </a:pPr>
            <a:r>
              <a:rPr lang="en-US" sz="1200" b="1" dirty="0">
                <a:solidFill>
                  <a:srgbClr val="C98A3A"/>
                </a:solidFill>
                <a:latin typeface="Calibri" pitchFamily="34" charset="0"/>
                <a:ea typeface="Calibri" pitchFamily="34" charset="-122"/>
                <a:cs typeface="Calibri" pitchFamily="34" charset="-120"/>
              </a:rPr>
              <a:t>2</a:t>
            </a:r>
            <a:endParaRPr lang="en-US" sz="1200" dirty="0"/>
          </a:p>
        </p:txBody>
      </p:sp>
      <p:sp>
        <p:nvSpPr>
          <p:cNvPr id="23" name="Text 20"/>
          <p:cNvSpPr/>
          <p:nvPr/>
        </p:nvSpPr>
        <p:spPr>
          <a:xfrm>
            <a:off x="7178040" y="4617720"/>
            <a:ext cx="4144975" cy="777240"/>
          </a:xfrm>
          <a:prstGeom prst="rect">
            <a:avLst/>
          </a:prstGeom>
          <a:noFill/>
          <a:ln/>
        </p:spPr>
        <p:txBody>
          <a:bodyPr wrap="square" rtlCol="0" anchor="t"/>
          <a:lstStyle/>
          <a:p>
            <a:pPr indent="0" marL="0">
              <a:lnSpc>
                <a:spcPct val="120000"/>
              </a:lnSpc>
              <a:buNone/>
            </a:pPr>
            <a:r>
              <a:rPr lang="en-US" sz="1050" dirty="0">
                <a:solidFill>
                  <a:srgbClr val="E6EEF5"/>
                </a:solidFill>
                <a:latin typeface="Calibri" pitchFamily="34" charset="0"/>
                <a:ea typeface="Calibri" pitchFamily="34" charset="-122"/>
                <a:cs typeface="Calibri" pitchFamily="34" charset="-120"/>
              </a:rPr>
              <a:t>uji/skenario.js antrean — memeriksa messages_ready lewat RabbitMQ Management API secara langsung (dipakai U2)</a:t>
            </a:r>
            <a:endParaRPr lang="en-US" sz="1050" dirty="0"/>
          </a:p>
        </p:txBody>
      </p:sp>
      <p:sp>
        <p:nvSpPr>
          <p:cNvPr id="24" name="Text 21"/>
          <p:cNvSpPr/>
          <p:nvPr/>
        </p:nvSpPr>
        <p:spPr>
          <a:xfrm>
            <a:off x="10728655" y="6400800"/>
            <a:ext cx="1097280" cy="274320"/>
          </a:xfrm>
          <a:prstGeom prst="rect">
            <a:avLst/>
          </a:prstGeom>
          <a:noFill/>
          <a:ln/>
        </p:spPr>
        <p:txBody>
          <a:bodyPr wrap="square" rtlCol="0" anchor="ctr"/>
          <a:lstStyle/>
          <a:p>
            <a:pPr algn="r" indent="0" marL="0">
              <a:buNone/>
            </a:pPr>
            <a:r>
              <a:rPr lang="en-US" sz="900" dirty="0">
                <a:solidFill>
                  <a:srgbClr val="5B6B78"/>
                </a:solidFill>
                <a:latin typeface="Calibri" pitchFamily="34" charset="0"/>
                <a:ea typeface="Calibri" pitchFamily="34" charset="-122"/>
                <a:cs typeface="Calibri" pitchFamily="34" charset="-120"/>
              </a:rPr>
              <a:t>04 / 12</a:t>
            </a:r>
            <a:endParaRPr lang="en-US" sz="900" dirty="0"/>
          </a:p>
        </p:txBody>
      </p:sp>
      <p:sp>
        <p:nvSpPr>
          <p:cNvPr id="25" name="Text 22"/>
          <p:cNvSpPr/>
          <p:nvPr/>
        </p:nvSpPr>
        <p:spPr>
          <a:xfrm>
            <a:off x="548640" y="6400800"/>
            <a:ext cx="3657600" cy="274320"/>
          </a:xfrm>
          <a:prstGeom prst="rect">
            <a:avLst/>
          </a:prstGeom>
          <a:noFill/>
          <a:ln/>
        </p:spPr>
        <p:txBody>
          <a:bodyPr wrap="square" rtlCol="0" anchor="ctr"/>
          <a:lstStyle/>
          <a:p>
            <a:pPr indent="0" marL="0">
              <a:buNone/>
            </a:pPr>
            <a:r>
              <a:rPr lang="en-US" sz="900" dirty="0">
                <a:solidFill>
                  <a:srgbClr val="5B6B78"/>
                </a:solidFill>
                <a:latin typeface="Calibri" pitchFamily="34" charset="0"/>
                <a:ea typeface="Calibri" pitchFamily="34" charset="-122"/>
                <a:cs typeface="Calibri" pitchFamily="34" charset="-120"/>
              </a:rPr>
              <a:t>A04-W · Pengolahan Berkas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rtlCol="0" anchor="ctr"/>
          <a:lstStyle/>
          <a:p>
            <a:pPr algn="l" indent="0" marL="0">
              <a:buNone/>
            </a:pPr>
            <a:r>
              <a:rPr lang="en-US" sz="1200" b="1" spc="200" kern="0" dirty="0">
                <a:solidFill>
                  <a:srgbClr val="1C7293"/>
                </a:solidFill>
                <a:latin typeface="Calibri" pitchFamily="34" charset="0"/>
                <a:ea typeface="Calibri" pitchFamily="34" charset="-122"/>
                <a:cs typeface="Calibri" pitchFamily="34" charset="-120"/>
              </a:rPr>
              <a:t>03 · KONTRAK EVENT &amp; IDEMPOTENSI</a:t>
            </a:r>
            <a:endParaRPr lang="en-US" sz="1200" dirty="0"/>
          </a:p>
        </p:txBody>
      </p:sp>
      <p:sp>
        <p:nvSpPr>
          <p:cNvPr id="3" name="Text 1"/>
          <p:cNvSpPr/>
          <p:nvPr/>
        </p:nvSpPr>
        <p:spPr>
          <a:xfrm>
            <a:off x="548640" y="658368"/>
            <a:ext cx="11094415" cy="777240"/>
          </a:xfrm>
          <a:prstGeom prst="rect">
            <a:avLst/>
          </a:prstGeom>
          <a:noFill/>
          <a:ln/>
        </p:spPr>
        <p:txBody>
          <a:bodyPr wrap="square" rtlCol="0" anchor="ctr"/>
          <a:lstStyle/>
          <a:p>
            <a:pPr algn="l" indent="0" marL="0">
              <a:buNone/>
            </a:pPr>
            <a:r>
              <a:rPr lang="en-US" sz="3200" b="1" dirty="0">
                <a:solidFill>
                  <a:srgbClr val="1B2733"/>
                </a:solidFill>
                <a:latin typeface="Cambria" pitchFamily="34" charset="0"/>
                <a:ea typeface="Cambria" pitchFamily="34" charset="-122"/>
                <a:cs typeface="Cambria" pitchFamily="34" charset="-120"/>
              </a:rPr>
              <a:t>Satu event = satu permintaan pemrosesan berkas</a:t>
            </a:r>
            <a:endParaRPr lang="en-US" sz="3200" dirty="0"/>
          </a:p>
        </p:txBody>
      </p:sp>
      <p:sp>
        <p:nvSpPr>
          <p:cNvPr id="4" name="Shape 2"/>
          <p:cNvSpPr/>
          <p:nvPr/>
        </p:nvSpPr>
        <p:spPr>
          <a:xfrm>
            <a:off x="548640" y="1737360"/>
            <a:ext cx="5760720" cy="4434840"/>
          </a:xfrm>
          <a:prstGeom prst="roundRect">
            <a:avLst>
              <a:gd name="adj" fmla="val 1649"/>
            </a:avLst>
          </a:prstGeom>
          <a:solidFill>
            <a:srgbClr val="21295C"/>
          </a:solidFill>
          <a:ln/>
        </p:spPr>
      </p:sp>
      <p:sp>
        <p:nvSpPr>
          <p:cNvPr id="5" name="Text 3"/>
          <p:cNvSpPr/>
          <p:nvPr/>
        </p:nvSpPr>
        <p:spPr>
          <a:xfrm>
            <a:off x="822960" y="1874520"/>
            <a:ext cx="5212080" cy="274320"/>
          </a:xfrm>
          <a:prstGeom prst="rect">
            <a:avLst/>
          </a:prstGeom>
          <a:noFill/>
          <a:ln/>
        </p:spPr>
        <p:txBody>
          <a:bodyPr wrap="square" rtlCol="0" anchor="ctr"/>
          <a:lstStyle/>
          <a:p>
            <a:pPr indent="0" marL="0">
              <a:buNone/>
            </a:pPr>
            <a:r>
              <a:rPr lang="en-US" sz="1000" dirty="0">
                <a:solidFill>
                  <a:srgbClr val="9AB6D6"/>
                </a:solidFill>
                <a:latin typeface="Courier New" pitchFamily="34" charset="0"/>
                <a:ea typeface="Courier New" pitchFamily="34" charset="-122"/>
                <a:cs typeface="Courier New" pitchFamily="34" charset="-120"/>
              </a:rPr>
              <a:t>event.json</a:t>
            </a:r>
            <a:endParaRPr lang="en-US" sz="1000" dirty="0"/>
          </a:p>
        </p:txBody>
      </p:sp>
      <p:sp>
        <p:nvSpPr>
          <p:cNvPr id="6" name="Text 4"/>
          <p:cNvSpPr/>
          <p:nvPr/>
        </p:nvSpPr>
        <p:spPr>
          <a:xfrm>
            <a:off x="822960" y="2240280"/>
            <a:ext cx="5212080" cy="3749040"/>
          </a:xfrm>
          <a:prstGeom prst="rect">
            <a:avLst/>
          </a:prstGeom>
          <a:noFill/>
          <a:ln/>
        </p:spPr>
        <p:txBody>
          <a:bodyPr wrap="square" rtlCol="0" anchor="t"/>
          <a:lstStyle/>
          <a:p>
            <a:pPr indent="0" marL="0">
              <a:lnSpc>
                <a:spcPct val="135000"/>
              </a:lnSpc>
              <a:buNone/>
            </a:pPr>
            <a:r>
              <a:rPr lang="en-US" sz="1350" dirty="0">
                <a:solidFill>
                  <a:srgbClr val="E6EEF5"/>
                </a:solidFill>
                <a:latin typeface="Courier New" pitchFamily="34" charset="0"/>
                <a:ea typeface="Courier New" pitchFamily="34" charset="-122"/>
                <a:cs typeface="Courier New" pitchFamily="34" charset="-120"/>
              </a:rPr>
              <a:t>{</a:t>
            </a:r>
            <a:endParaRPr lang="en-US" sz="1350" dirty="0"/>
          </a:p>
          <a:p>
            <a:pPr indent="0" marL="0">
              <a:lnSpc>
                <a:spcPct val="135000"/>
              </a:lnSpc>
              <a:buNone/>
            </a:pPr>
            <a:r>
              <a:rPr lang="en-US" sz="1350" dirty="0">
                <a:solidFill>
                  <a:srgbClr val="E6EEF5"/>
                </a:solidFill>
                <a:latin typeface="Courier New" pitchFamily="34" charset="0"/>
                <a:ea typeface="Courier New" pitchFamily="34" charset="-122"/>
                <a:cs typeface="Courier New" pitchFamily="34" charset="-120"/>
              </a:rPr>
              <a:t>  "event_id": "run01-N01",</a:t>
            </a:r>
            <a:endParaRPr lang="en-US" sz="1350" dirty="0"/>
          </a:p>
          <a:p>
            <a:pPr indent="0" marL="0">
              <a:lnSpc>
                <a:spcPct val="135000"/>
              </a:lnSpc>
              <a:buNone/>
            </a:pPr>
            <a:r>
              <a:rPr lang="en-US" sz="1350" dirty="0">
                <a:solidFill>
                  <a:srgbClr val="E6EEF5"/>
                </a:solidFill>
                <a:latin typeface="Courier New" pitchFamily="34" charset="0"/>
                <a:ea typeface="Courier New" pitchFamily="34" charset="-122"/>
                <a:cs typeface="Courier New" pitchFamily="34" charset="-120"/>
              </a:rPr>
              <a:t>  "event_type": "file.processing.requested",</a:t>
            </a:r>
            <a:endParaRPr lang="en-US" sz="1350" dirty="0"/>
          </a:p>
          <a:p>
            <a:pPr indent="0" marL="0">
              <a:lnSpc>
                <a:spcPct val="135000"/>
              </a:lnSpc>
              <a:buNone/>
            </a:pPr>
            <a:r>
              <a:rPr lang="en-US" sz="1350" dirty="0">
                <a:solidFill>
                  <a:srgbClr val="E6EEF5"/>
                </a:solidFill>
                <a:latin typeface="Courier New" pitchFamily="34" charset="0"/>
                <a:ea typeface="Courier New" pitchFamily="34" charset="-122"/>
                <a:cs typeface="Courier New" pitchFamily="34" charset="-120"/>
              </a:rPr>
              <a:t>  "occurred_at": "2026-09-23T07:38:12.312Z",</a:t>
            </a:r>
            <a:endParaRPr lang="en-US" sz="1350" dirty="0"/>
          </a:p>
          <a:p>
            <a:pPr indent="0" marL="0">
              <a:lnSpc>
                <a:spcPct val="135000"/>
              </a:lnSpc>
              <a:buNone/>
            </a:pPr>
            <a:r>
              <a:rPr lang="en-US" sz="1350" dirty="0">
                <a:solidFill>
                  <a:srgbClr val="E6EEF5"/>
                </a:solidFill>
                <a:latin typeface="Courier New" pitchFamily="34" charset="0"/>
                <a:ea typeface="Courier New" pitchFamily="34" charset="-122"/>
                <a:cs typeface="Courier New" pitchFamily="34" charset="-120"/>
              </a:rPr>
              <a:t>  "payload": {</a:t>
            </a:r>
            <a:endParaRPr lang="en-US" sz="1350" dirty="0"/>
          </a:p>
          <a:p>
            <a:pPr indent="0" marL="0">
              <a:lnSpc>
                <a:spcPct val="135000"/>
              </a:lnSpc>
              <a:buNone/>
            </a:pPr>
            <a:r>
              <a:rPr lang="en-US" sz="1350" dirty="0">
                <a:solidFill>
                  <a:srgbClr val="E6EEF5"/>
                </a:solidFill>
                <a:latin typeface="Courier New" pitchFamily="34" charset="0"/>
                <a:ea typeface="Courier New" pitchFamily="34" charset="-122"/>
                <a:cs typeface="Courier New" pitchFamily="34" charset="-120"/>
              </a:rPr>
              <a:t>    "job_id": "JOB-N01",</a:t>
            </a:r>
            <a:endParaRPr lang="en-US" sz="1350" dirty="0"/>
          </a:p>
          <a:p>
            <a:pPr indent="0" marL="0">
              <a:lnSpc>
                <a:spcPct val="135000"/>
              </a:lnSpc>
              <a:buNone/>
            </a:pPr>
            <a:r>
              <a:rPr lang="en-US" sz="1350" dirty="0">
                <a:solidFill>
                  <a:srgbClr val="E6EEF5"/>
                </a:solidFill>
                <a:latin typeface="Courier New" pitchFamily="34" charset="0"/>
                <a:ea typeface="Courier New" pitchFamily="34" charset="-122"/>
                <a:cs typeface="Courier New" pitchFamily="34" charset="-120"/>
              </a:rPr>
              <a:t>    "file_id": "sample-a",</a:t>
            </a:r>
            <a:endParaRPr lang="en-US" sz="1350" dirty="0"/>
          </a:p>
          <a:p>
            <a:pPr indent="0" marL="0">
              <a:lnSpc>
                <a:spcPct val="135000"/>
              </a:lnSpc>
              <a:buNone/>
            </a:pPr>
            <a:r>
              <a:rPr lang="en-US" sz="1350" dirty="0">
                <a:solidFill>
                  <a:srgbClr val="E6EEF5"/>
                </a:solidFill>
                <a:latin typeface="Courier New" pitchFamily="34" charset="0"/>
                <a:ea typeface="Courier New" pitchFamily="34" charset="-122"/>
                <a:cs typeface="Courier New" pitchFamily="34" charset="-120"/>
              </a:rPr>
              <a:t>    "operation": "word_count"</a:t>
            </a:r>
            <a:endParaRPr lang="en-US" sz="1350" dirty="0"/>
          </a:p>
          <a:p>
            <a:pPr indent="0" marL="0">
              <a:lnSpc>
                <a:spcPct val="135000"/>
              </a:lnSpc>
              <a:buNone/>
            </a:pPr>
            <a:r>
              <a:rPr lang="en-US" sz="1350" dirty="0">
                <a:solidFill>
                  <a:srgbClr val="E6EEF5"/>
                </a:solidFill>
                <a:latin typeface="Courier New" pitchFamily="34" charset="0"/>
                <a:ea typeface="Courier New" pitchFamily="34" charset="-122"/>
                <a:cs typeface="Courier New" pitchFamily="34" charset="-120"/>
              </a:rPr>
              <a:t>  }</a:t>
            </a:r>
            <a:endParaRPr lang="en-US" sz="1350" dirty="0"/>
          </a:p>
          <a:p>
            <a:pPr indent="0" marL="0">
              <a:lnSpc>
                <a:spcPct val="135000"/>
              </a:lnSpc>
              <a:buNone/>
            </a:pPr>
            <a:r>
              <a:rPr lang="en-US" sz="1350" dirty="0">
                <a:solidFill>
                  <a:srgbClr val="E6EEF5"/>
                </a:solidFill>
                <a:latin typeface="Courier New" pitchFamily="34" charset="0"/>
                <a:ea typeface="Courier New" pitchFamily="34" charset="-122"/>
                <a:cs typeface="Courier New" pitchFamily="34" charset="-120"/>
              </a:rPr>
              <a:t>}</a:t>
            </a:r>
            <a:endParaRPr lang="en-US" sz="1350" dirty="0"/>
          </a:p>
        </p:txBody>
      </p:sp>
      <p:sp>
        <p:nvSpPr>
          <p:cNvPr id="7" name="Shape 5"/>
          <p:cNvSpPr/>
          <p:nvPr/>
        </p:nvSpPr>
        <p:spPr>
          <a:xfrm>
            <a:off x="6675120" y="1783080"/>
            <a:ext cx="640080" cy="640080"/>
          </a:xfrm>
          <a:prstGeom prst="ellipse">
            <a:avLst/>
          </a:prstGeom>
          <a:solidFill>
            <a:srgbClr val="065A82"/>
          </a:solidFill>
          <a:ln/>
        </p:spPr>
      </p:sp>
      <p:pic>
        <p:nvPicPr>
          <p:cNvPr id="8" name="Image 0" descr="E:\_tmp_pptx_build\icons\code.png">    </p:cNvPr>
          <p:cNvPicPr>
            <a:picLocks noChangeAspect="1"/>
          </p:cNvPicPr>
          <p:nvPr/>
        </p:nvPicPr>
        <p:blipFill>
          <a:blip r:embed="rId1"/>
          <a:stretch>
            <a:fillRect/>
          </a:stretch>
        </p:blipFill>
        <p:spPr>
          <a:xfrm>
            <a:off x="6841541" y="1949501"/>
            <a:ext cx="307238" cy="307238"/>
          </a:xfrm>
          <a:prstGeom prst="rect">
            <a:avLst/>
          </a:prstGeom>
        </p:spPr>
      </p:pic>
      <p:sp>
        <p:nvSpPr>
          <p:cNvPr id="9" name="Text 6"/>
          <p:cNvSpPr/>
          <p:nvPr/>
        </p:nvSpPr>
        <p:spPr>
          <a:xfrm>
            <a:off x="7452360" y="1755648"/>
            <a:ext cx="4190695" cy="320040"/>
          </a:xfrm>
          <a:prstGeom prst="rect">
            <a:avLst/>
          </a:prstGeom>
          <a:noFill/>
          <a:ln/>
        </p:spPr>
        <p:txBody>
          <a:bodyPr wrap="square" rtlCol="0" anchor="ctr"/>
          <a:lstStyle/>
          <a:p>
            <a:pPr indent="0" marL="0">
              <a:buNone/>
            </a:pPr>
            <a:r>
              <a:rPr lang="en-US" sz="1500" b="1" dirty="0">
                <a:solidFill>
                  <a:srgbClr val="1B2733"/>
                </a:solidFill>
                <a:latin typeface="Calibri" pitchFamily="34" charset="0"/>
                <a:ea typeface="Calibri" pitchFamily="34" charset="-122"/>
                <a:cs typeface="Calibri" pitchFamily="34" charset="-120"/>
              </a:rPr>
              <a:t>event_id</a:t>
            </a:r>
            <a:endParaRPr lang="en-US" sz="1500" dirty="0"/>
          </a:p>
        </p:txBody>
      </p:sp>
      <p:sp>
        <p:nvSpPr>
          <p:cNvPr id="10" name="Text 7"/>
          <p:cNvSpPr/>
          <p:nvPr/>
        </p:nvSpPr>
        <p:spPr>
          <a:xfrm>
            <a:off x="7452360" y="2057400"/>
            <a:ext cx="4190695" cy="685800"/>
          </a:xfrm>
          <a:prstGeom prst="rect">
            <a:avLst/>
          </a:prstGeom>
          <a:noFill/>
          <a:ln/>
        </p:spPr>
        <p:txBody>
          <a:bodyPr wrap="square" rtlCol="0" anchor="t"/>
          <a:lstStyle/>
          <a:p>
            <a:pPr indent="0" marL="0">
              <a:lnSpc>
                <a:spcPct val="115000"/>
              </a:lnSpc>
              <a:buNone/>
            </a:pPr>
            <a:r>
              <a:rPr lang="en-US" sz="1150" dirty="0">
                <a:solidFill>
                  <a:srgbClr val="5B6B78"/>
                </a:solidFill>
                <a:latin typeface="Calibri" pitchFamily="34" charset="0"/>
                <a:ea typeface="Calibri" pitchFamily="34" charset="-122"/>
                <a:cs typeface="Calibri" pitchFamily="34" charset="-120"/>
              </a:rPr>
              <a:t>Kunci dedup (primary key). Replay dengan event_id sama tidak pernah menghasilkan efek bisnis kedua.</a:t>
            </a:r>
            <a:endParaRPr lang="en-US" sz="1150" dirty="0"/>
          </a:p>
        </p:txBody>
      </p:sp>
      <p:sp>
        <p:nvSpPr>
          <p:cNvPr id="11" name="Shape 8"/>
          <p:cNvSpPr/>
          <p:nvPr/>
        </p:nvSpPr>
        <p:spPr>
          <a:xfrm>
            <a:off x="6675120" y="3200400"/>
            <a:ext cx="640080" cy="640080"/>
          </a:xfrm>
          <a:prstGeom prst="ellipse">
            <a:avLst/>
          </a:prstGeom>
          <a:solidFill>
            <a:srgbClr val="065A82"/>
          </a:solidFill>
          <a:ln/>
        </p:spPr>
      </p:sp>
      <p:pic>
        <p:nvPicPr>
          <p:cNvPr id="12" name="Image 1" descr="E:\_tmp_pptx_build\icons\layers.png">    </p:cNvPr>
          <p:cNvPicPr>
            <a:picLocks noChangeAspect="1"/>
          </p:cNvPicPr>
          <p:nvPr/>
        </p:nvPicPr>
        <p:blipFill>
          <a:blip r:embed="rId2"/>
          <a:stretch>
            <a:fillRect/>
          </a:stretch>
        </p:blipFill>
        <p:spPr>
          <a:xfrm>
            <a:off x="6841541" y="3366821"/>
            <a:ext cx="307238" cy="307238"/>
          </a:xfrm>
          <a:prstGeom prst="rect">
            <a:avLst/>
          </a:prstGeom>
        </p:spPr>
      </p:pic>
      <p:sp>
        <p:nvSpPr>
          <p:cNvPr id="13" name="Text 9"/>
          <p:cNvSpPr/>
          <p:nvPr/>
        </p:nvSpPr>
        <p:spPr>
          <a:xfrm>
            <a:off x="7452360" y="3172968"/>
            <a:ext cx="4190695" cy="320040"/>
          </a:xfrm>
          <a:prstGeom prst="rect">
            <a:avLst/>
          </a:prstGeom>
          <a:noFill/>
          <a:ln/>
        </p:spPr>
        <p:txBody>
          <a:bodyPr wrap="square" rtlCol="0" anchor="ctr"/>
          <a:lstStyle/>
          <a:p>
            <a:pPr indent="0" marL="0">
              <a:buNone/>
            </a:pPr>
            <a:r>
              <a:rPr lang="en-US" sz="1500" b="1" dirty="0">
                <a:solidFill>
                  <a:srgbClr val="1B2733"/>
                </a:solidFill>
                <a:latin typeface="Calibri" pitchFamily="34" charset="0"/>
                <a:ea typeface="Calibri" pitchFamily="34" charset="-122"/>
                <a:cs typeface="Calibri" pitchFamily="34" charset="-120"/>
              </a:rPr>
              <a:t>job_id</a:t>
            </a:r>
            <a:endParaRPr lang="en-US" sz="1500" dirty="0"/>
          </a:p>
        </p:txBody>
      </p:sp>
      <p:sp>
        <p:nvSpPr>
          <p:cNvPr id="14" name="Text 10"/>
          <p:cNvSpPr/>
          <p:nvPr/>
        </p:nvSpPr>
        <p:spPr>
          <a:xfrm>
            <a:off x="7452360" y="3474720"/>
            <a:ext cx="4190695" cy="685800"/>
          </a:xfrm>
          <a:prstGeom prst="rect">
            <a:avLst/>
          </a:prstGeom>
          <a:noFill/>
          <a:ln/>
        </p:spPr>
        <p:txBody>
          <a:bodyPr wrap="square" rtlCol="0" anchor="t"/>
          <a:lstStyle/>
          <a:p>
            <a:pPr indent="0" marL="0">
              <a:lnSpc>
                <a:spcPct val="115000"/>
              </a:lnSpc>
              <a:buNone/>
            </a:pPr>
            <a:r>
              <a:rPr lang="en-US" sz="1150" dirty="0">
                <a:solidFill>
                  <a:srgbClr val="5B6B78"/>
                </a:solidFill>
                <a:latin typeface="Calibri" pitchFamily="34" charset="0"/>
                <a:ea typeface="Calibri" pitchFamily="34" charset="-122"/>
                <a:cs typeface="Calibri" pitchFamily="34" charset="-120"/>
              </a:rPr>
              <a:t>Label bisnis job itu sendiri — boleh berulang memakai file_id yang sama; bukan kunci dedup.</a:t>
            </a:r>
            <a:endParaRPr lang="en-US" sz="1150" dirty="0"/>
          </a:p>
        </p:txBody>
      </p:sp>
      <p:sp>
        <p:nvSpPr>
          <p:cNvPr id="15" name="Shape 11"/>
          <p:cNvSpPr/>
          <p:nvPr/>
        </p:nvSpPr>
        <p:spPr>
          <a:xfrm>
            <a:off x="6675120" y="4617720"/>
            <a:ext cx="640080" cy="640080"/>
          </a:xfrm>
          <a:prstGeom prst="ellipse">
            <a:avLst/>
          </a:prstGeom>
          <a:solidFill>
            <a:srgbClr val="065A82"/>
          </a:solidFill>
          <a:ln/>
        </p:spPr>
      </p:sp>
      <p:pic>
        <p:nvPicPr>
          <p:cNvPr id="16" name="Image 2" descr="E:\_tmp_pptx_build\icons\lock.png">    </p:cNvPr>
          <p:cNvPicPr>
            <a:picLocks noChangeAspect="1"/>
          </p:cNvPicPr>
          <p:nvPr/>
        </p:nvPicPr>
        <p:blipFill>
          <a:blip r:embed="rId3"/>
          <a:stretch>
            <a:fillRect/>
          </a:stretch>
        </p:blipFill>
        <p:spPr>
          <a:xfrm>
            <a:off x="6841541" y="4784141"/>
            <a:ext cx="307238" cy="307238"/>
          </a:xfrm>
          <a:prstGeom prst="rect">
            <a:avLst/>
          </a:prstGeom>
        </p:spPr>
      </p:pic>
      <p:sp>
        <p:nvSpPr>
          <p:cNvPr id="17" name="Text 12"/>
          <p:cNvSpPr/>
          <p:nvPr/>
        </p:nvSpPr>
        <p:spPr>
          <a:xfrm>
            <a:off x="7452360" y="4590288"/>
            <a:ext cx="4190695" cy="320040"/>
          </a:xfrm>
          <a:prstGeom prst="rect">
            <a:avLst/>
          </a:prstGeom>
          <a:noFill/>
          <a:ln/>
        </p:spPr>
        <p:txBody>
          <a:bodyPr wrap="square" rtlCol="0" anchor="ctr"/>
          <a:lstStyle/>
          <a:p>
            <a:pPr indent="0" marL="0">
              <a:buNone/>
            </a:pPr>
            <a:r>
              <a:rPr lang="en-US" sz="1500" b="1" dirty="0">
                <a:solidFill>
                  <a:srgbClr val="1B2733"/>
                </a:solidFill>
                <a:latin typeface="Calibri" pitchFamily="34" charset="0"/>
                <a:ea typeface="Calibri" pitchFamily="34" charset="-122"/>
                <a:cs typeface="Calibri" pitchFamily="34" charset="-120"/>
              </a:rPr>
              <a:t>file_id</a:t>
            </a:r>
            <a:endParaRPr lang="en-US" sz="1500" dirty="0"/>
          </a:p>
        </p:txBody>
      </p:sp>
      <p:sp>
        <p:nvSpPr>
          <p:cNvPr id="18" name="Text 13"/>
          <p:cNvSpPr/>
          <p:nvPr/>
        </p:nvSpPr>
        <p:spPr>
          <a:xfrm>
            <a:off x="7452360" y="4892040"/>
            <a:ext cx="4190695" cy="685800"/>
          </a:xfrm>
          <a:prstGeom prst="rect">
            <a:avLst/>
          </a:prstGeom>
          <a:noFill/>
          <a:ln/>
        </p:spPr>
        <p:txBody>
          <a:bodyPr wrap="square" rtlCol="0" anchor="t"/>
          <a:lstStyle/>
          <a:p>
            <a:pPr indent="0" marL="0">
              <a:lnSpc>
                <a:spcPct val="115000"/>
              </a:lnSpc>
              <a:buNone/>
            </a:pPr>
            <a:r>
              <a:rPr lang="en-US" sz="1150" dirty="0">
                <a:solidFill>
                  <a:srgbClr val="5B6B78"/>
                </a:solidFill>
                <a:latin typeface="Calibri" pitchFamily="34" charset="0"/>
                <a:ea typeface="Calibri" pitchFamily="34" charset="-122"/>
                <a:cs typeface="Calibri" pitchFamily="34" charset="-120"/>
              </a:rPr>
              <a:t>Kunci lookup ke peta fixture lokal terdaftar. Tidak terdaftar → ditolak validateEvent(); worker tidak pernah membaca berkas arbitrer.</a:t>
            </a:r>
            <a:endParaRPr lang="en-US" sz="1150" dirty="0"/>
          </a:p>
        </p:txBody>
      </p:sp>
      <p:sp>
        <p:nvSpPr>
          <p:cNvPr id="19" name="Text 14"/>
          <p:cNvSpPr/>
          <p:nvPr/>
        </p:nvSpPr>
        <p:spPr>
          <a:xfrm>
            <a:off x="10728655" y="6400800"/>
            <a:ext cx="1097280" cy="274320"/>
          </a:xfrm>
          <a:prstGeom prst="rect">
            <a:avLst/>
          </a:prstGeom>
          <a:noFill/>
          <a:ln/>
        </p:spPr>
        <p:txBody>
          <a:bodyPr wrap="square" rtlCol="0" anchor="ctr"/>
          <a:lstStyle/>
          <a:p>
            <a:pPr algn="r" indent="0" marL="0">
              <a:buNone/>
            </a:pPr>
            <a:r>
              <a:rPr lang="en-US" sz="900" dirty="0">
                <a:solidFill>
                  <a:srgbClr val="5B6B78"/>
                </a:solidFill>
                <a:latin typeface="Calibri" pitchFamily="34" charset="0"/>
                <a:ea typeface="Calibri" pitchFamily="34" charset="-122"/>
                <a:cs typeface="Calibri" pitchFamily="34" charset="-120"/>
              </a:rPr>
              <a:t>05 / 12</a:t>
            </a:r>
            <a:endParaRPr lang="en-US" sz="900" dirty="0"/>
          </a:p>
        </p:txBody>
      </p:sp>
      <p:sp>
        <p:nvSpPr>
          <p:cNvPr id="20" name="Text 15"/>
          <p:cNvSpPr/>
          <p:nvPr/>
        </p:nvSpPr>
        <p:spPr>
          <a:xfrm>
            <a:off x="548640" y="6400800"/>
            <a:ext cx="3657600" cy="274320"/>
          </a:xfrm>
          <a:prstGeom prst="rect">
            <a:avLst/>
          </a:prstGeom>
          <a:noFill/>
          <a:ln/>
        </p:spPr>
        <p:txBody>
          <a:bodyPr wrap="square" rtlCol="0" anchor="ctr"/>
          <a:lstStyle/>
          <a:p>
            <a:pPr indent="0" marL="0">
              <a:buNone/>
            </a:pPr>
            <a:r>
              <a:rPr lang="en-US" sz="900" dirty="0">
                <a:solidFill>
                  <a:srgbClr val="5B6B78"/>
                </a:solidFill>
                <a:latin typeface="Calibri" pitchFamily="34" charset="0"/>
                <a:ea typeface="Calibri" pitchFamily="34" charset="-122"/>
                <a:cs typeface="Calibri" pitchFamily="34" charset="-120"/>
              </a:rPr>
              <a:t>A04-W · Pengolahan Berkas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rtlCol="0" anchor="ctr"/>
          <a:lstStyle/>
          <a:p>
            <a:pPr algn="l" indent="0" marL="0">
              <a:buNone/>
            </a:pPr>
            <a:r>
              <a:rPr lang="en-US" sz="1200" b="1" spc="200" kern="0" dirty="0">
                <a:solidFill>
                  <a:srgbClr val="1C7293"/>
                </a:solidFill>
                <a:latin typeface="Calibri" pitchFamily="34" charset="0"/>
                <a:ea typeface="Calibri" pitchFamily="34" charset="-122"/>
                <a:cs typeface="Calibri" pitchFamily="34" charset="-120"/>
              </a:rPr>
              <a:t>03 · KONTRAK EVENT &amp; IDEMPOTENSI</a:t>
            </a:r>
            <a:endParaRPr lang="en-US" sz="1200" dirty="0"/>
          </a:p>
        </p:txBody>
      </p:sp>
      <p:sp>
        <p:nvSpPr>
          <p:cNvPr id="3" name="Text 1"/>
          <p:cNvSpPr/>
          <p:nvPr/>
        </p:nvSpPr>
        <p:spPr>
          <a:xfrm>
            <a:off x="548640" y="658368"/>
            <a:ext cx="11094415" cy="777240"/>
          </a:xfrm>
          <a:prstGeom prst="rect">
            <a:avLst/>
          </a:prstGeom>
          <a:noFill/>
          <a:ln/>
        </p:spPr>
        <p:txBody>
          <a:bodyPr wrap="square" rtlCol="0" anchor="ctr"/>
          <a:lstStyle/>
          <a:p>
            <a:pPr algn="l" indent="0" marL="0">
              <a:buNone/>
            </a:pPr>
            <a:r>
              <a:rPr lang="en-US" sz="3200" b="1" dirty="0">
                <a:solidFill>
                  <a:srgbClr val="1B2733"/>
                </a:solidFill>
                <a:latin typeface="Cambria" pitchFamily="34" charset="0"/>
                <a:ea typeface="Cambria" pitchFamily="34" charset="-122"/>
                <a:cs typeface="Cambria" pitchFamily="34" charset="-120"/>
              </a:rPr>
              <a:t>Idempotensi atomik: satu statement, tiga kemungkinan hasil</a:t>
            </a:r>
            <a:endParaRPr lang="en-US" sz="3200" dirty="0"/>
          </a:p>
        </p:txBody>
      </p:sp>
      <p:sp>
        <p:nvSpPr>
          <p:cNvPr id="4" name="Text 2"/>
          <p:cNvSpPr/>
          <p:nvPr/>
        </p:nvSpPr>
        <p:spPr>
          <a:xfrm>
            <a:off x="548640" y="1691640"/>
            <a:ext cx="11094415" cy="457200"/>
          </a:xfrm>
          <a:prstGeom prst="rect">
            <a:avLst/>
          </a:prstGeom>
          <a:noFill/>
          <a:ln/>
        </p:spPr>
        <p:txBody>
          <a:bodyPr wrap="square" rtlCol="0" anchor="ctr"/>
          <a:lstStyle/>
          <a:p>
            <a:pPr algn="l" indent="0" marL="0">
              <a:buNone/>
            </a:pPr>
            <a:r>
              <a:rPr lang="en-US" sz="1400" b="1" dirty="0">
                <a:solidFill>
                  <a:srgbClr val="065A82"/>
                </a:solidFill>
                <a:latin typeface="Courier New" pitchFamily="34" charset="0"/>
                <a:ea typeface="Courier New" pitchFamily="34" charset="-122"/>
                <a:cs typeface="Courier New" pitchFamily="34" charset="-120"/>
              </a:rPr>
              <a:t>INSERT ... ON CONFLICT (event_id) DO NOTHING RETURNING event_id</a:t>
            </a:r>
            <a:endParaRPr lang="en-US" sz="1400" dirty="0"/>
          </a:p>
        </p:txBody>
      </p:sp>
      <p:sp>
        <p:nvSpPr>
          <p:cNvPr id="5" name="Text 3"/>
          <p:cNvSpPr/>
          <p:nvPr/>
        </p:nvSpPr>
        <p:spPr>
          <a:xfrm>
            <a:off x="548640" y="2103120"/>
            <a:ext cx="11094415" cy="457200"/>
          </a:xfrm>
          <a:prstGeom prst="rect">
            <a:avLst/>
          </a:prstGeom>
          <a:noFill/>
          <a:ln/>
        </p:spPr>
        <p:txBody>
          <a:bodyPr wrap="square" rtlCol="0" anchor="ctr"/>
          <a:lstStyle/>
          <a:p>
            <a:pPr indent="0" marL="0">
              <a:buNone/>
            </a:pPr>
            <a:r>
              <a:rPr lang="en-US" sz="1150" i="1" dirty="0">
                <a:solidFill>
                  <a:srgbClr val="5B6B78"/>
                </a:solidFill>
                <a:latin typeface="Calibri" pitchFamily="34" charset="0"/>
                <a:ea typeface="Calibri" pitchFamily="34" charset="-122"/>
                <a:cs typeface="Calibri" pitchFamily="34" charset="-120"/>
              </a:rPr>
              <a:t>Consumer ack setelah statement ini selesai — baik baris baru maupun duplikat diabaikan berarti “pesan ini sudah punya efek bisnis di database”, sehingga aman di-ack.</a:t>
            </a:r>
            <a:endParaRPr lang="en-US" sz="1150" dirty="0"/>
          </a:p>
        </p:txBody>
      </p:sp>
      <p:sp>
        <p:nvSpPr>
          <p:cNvPr id="6" name="Shape 4"/>
          <p:cNvSpPr/>
          <p:nvPr/>
        </p:nvSpPr>
        <p:spPr>
          <a:xfrm>
            <a:off x="548640" y="2788920"/>
            <a:ext cx="3454298" cy="3291840"/>
          </a:xfrm>
          <a:prstGeom prst="roundRect">
            <a:avLst>
              <a:gd name="adj" fmla="val 2222"/>
            </a:avLst>
          </a:prstGeom>
          <a:solidFill>
            <a:srgbClr val="F4F7FA"/>
          </a:solidFill>
          <a:ln/>
        </p:spPr>
      </p:sp>
      <p:sp>
        <p:nvSpPr>
          <p:cNvPr id="7" name="Shape 5"/>
          <p:cNvSpPr/>
          <p:nvPr/>
        </p:nvSpPr>
        <p:spPr>
          <a:xfrm>
            <a:off x="1910029" y="2971800"/>
            <a:ext cx="731520" cy="731520"/>
          </a:xfrm>
          <a:prstGeom prst="ellipse">
            <a:avLst/>
          </a:prstGeom>
          <a:solidFill>
            <a:srgbClr val="1E8E5A"/>
          </a:solidFill>
          <a:ln/>
        </p:spPr>
      </p:sp>
      <p:pic>
        <p:nvPicPr>
          <p:cNvPr id="8" name="Image 0" descr="E:\_tmp_pptx_build\icons\check.png">    </p:cNvPr>
          <p:cNvPicPr>
            <a:picLocks noChangeAspect="1"/>
          </p:cNvPicPr>
          <p:nvPr/>
        </p:nvPicPr>
        <p:blipFill>
          <a:blip r:embed="rId1"/>
          <a:stretch>
            <a:fillRect/>
          </a:stretch>
        </p:blipFill>
        <p:spPr>
          <a:xfrm>
            <a:off x="2100224" y="3161995"/>
            <a:ext cx="351130" cy="351130"/>
          </a:xfrm>
          <a:prstGeom prst="rect">
            <a:avLst/>
          </a:prstGeom>
        </p:spPr>
      </p:pic>
      <p:sp>
        <p:nvSpPr>
          <p:cNvPr id="9" name="Text 6"/>
          <p:cNvSpPr/>
          <p:nvPr/>
        </p:nvSpPr>
        <p:spPr>
          <a:xfrm>
            <a:off x="777240" y="3794760"/>
            <a:ext cx="2997098" cy="411480"/>
          </a:xfrm>
          <a:prstGeom prst="rect">
            <a:avLst/>
          </a:prstGeom>
          <a:noFill/>
          <a:ln/>
        </p:spPr>
        <p:txBody>
          <a:bodyPr wrap="square" rtlCol="0" anchor="ctr"/>
          <a:lstStyle/>
          <a:p>
            <a:pPr algn="ctr" indent="0" marL="0">
              <a:buNone/>
            </a:pPr>
            <a:r>
              <a:rPr lang="en-US" sz="1400" b="1" dirty="0">
                <a:solidFill>
                  <a:srgbClr val="1B2733"/>
                </a:solidFill>
                <a:latin typeface="Calibri" pitchFamily="34" charset="0"/>
                <a:ea typeface="Calibri" pitchFamily="34" charset="-122"/>
                <a:cs typeface="Calibri" pitchFamily="34" charset="-120"/>
              </a:rPr>
              <a:t>Event baru</a:t>
            </a:r>
            <a:endParaRPr lang="en-US" sz="1400" dirty="0"/>
          </a:p>
        </p:txBody>
      </p:sp>
      <p:sp>
        <p:nvSpPr>
          <p:cNvPr id="10" name="Text 7"/>
          <p:cNvSpPr/>
          <p:nvPr/>
        </p:nvSpPr>
        <p:spPr>
          <a:xfrm>
            <a:off x="822960" y="4251960"/>
            <a:ext cx="2905658" cy="1051560"/>
          </a:xfrm>
          <a:prstGeom prst="rect">
            <a:avLst/>
          </a:prstGeom>
          <a:noFill/>
          <a:ln/>
        </p:spPr>
        <p:txBody>
          <a:bodyPr wrap="square" rtlCol="0" anchor="ctr"/>
          <a:lstStyle/>
          <a:p>
            <a:pPr algn="ctr" indent="0" marL="0">
              <a:lnSpc>
                <a:spcPct val="120000"/>
              </a:lnSpc>
              <a:buNone/>
            </a:pPr>
            <a:r>
              <a:rPr lang="en-US" sz="1100" dirty="0">
                <a:solidFill>
                  <a:srgbClr val="5B6B78"/>
                </a:solidFill>
                <a:latin typeface="Calibri" pitchFamily="34" charset="0"/>
                <a:ea typeface="Calibri" pitchFamily="34" charset="-122"/>
                <a:cs typeface="Calibri" pitchFamily="34" charset="-120"/>
              </a:rPr>
              <a:t>Baris ditulis ke file_results. hasil: "baru" pada log worker.</a:t>
            </a:r>
            <a:endParaRPr lang="en-US" sz="1100" dirty="0"/>
          </a:p>
        </p:txBody>
      </p:sp>
      <p:sp>
        <p:nvSpPr>
          <p:cNvPr id="11" name="Shape 8"/>
          <p:cNvSpPr/>
          <p:nvPr/>
        </p:nvSpPr>
        <p:spPr>
          <a:xfrm>
            <a:off x="914400" y="5440680"/>
            <a:ext cx="2722778" cy="457200"/>
          </a:xfrm>
          <a:prstGeom prst="roundRect">
            <a:avLst>
              <a:gd name="adj" fmla="val 16000"/>
            </a:avLst>
          </a:prstGeom>
          <a:solidFill>
            <a:srgbClr val="1E8E5A"/>
          </a:solidFill>
          <a:ln/>
        </p:spPr>
      </p:sp>
      <p:sp>
        <p:nvSpPr>
          <p:cNvPr id="12" name="Text 9"/>
          <p:cNvSpPr/>
          <p:nvPr/>
        </p:nvSpPr>
        <p:spPr>
          <a:xfrm>
            <a:off x="914400" y="5440680"/>
            <a:ext cx="2722778"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ACK</a:t>
            </a:r>
            <a:endParaRPr lang="en-US" sz="1100" dirty="0"/>
          </a:p>
        </p:txBody>
      </p:sp>
      <p:sp>
        <p:nvSpPr>
          <p:cNvPr id="13" name="Shape 10"/>
          <p:cNvSpPr/>
          <p:nvPr/>
        </p:nvSpPr>
        <p:spPr>
          <a:xfrm>
            <a:off x="4368698" y="2788920"/>
            <a:ext cx="3454298" cy="3291840"/>
          </a:xfrm>
          <a:prstGeom prst="roundRect">
            <a:avLst>
              <a:gd name="adj" fmla="val 2222"/>
            </a:avLst>
          </a:prstGeom>
          <a:solidFill>
            <a:srgbClr val="F4F7FA"/>
          </a:solidFill>
          <a:ln/>
        </p:spPr>
      </p:sp>
      <p:sp>
        <p:nvSpPr>
          <p:cNvPr id="14" name="Shape 11"/>
          <p:cNvSpPr/>
          <p:nvPr/>
        </p:nvSpPr>
        <p:spPr>
          <a:xfrm>
            <a:off x="5730088" y="2971800"/>
            <a:ext cx="731520" cy="731520"/>
          </a:xfrm>
          <a:prstGeom prst="ellipse">
            <a:avLst/>
          </a:prstGeom>
          <a:solidFill>
            <a:srgbClr val="1C7293"/>
          </a:solidFill>
          <a:ln/>
        </p:spPr>
      </p:sp>
      <p:pic>
        <p:nvPicPr>
          <p:cNvPr id="15" name="Image 1" descr="E:\_tmp_pptx_build\icons\repeat.png">    </p:cNvPr>
          <p:cNvPicPr>
            <a:picLocks noChangeAspect="1"/>
          </p:cNvPicPr>
          <p:nvPr/>
        </p:nvPicPr>
        <p:blipFill>
          <a:blip r:embed="rId2"/>
          <a:stretch>
            <a:fillRect/>
          </a:stretch>
        </p:blipFill>
        <p:spPr>
          <a:xfrm>
            <a:off x="5920283" y="3161995"/>
            <a:ext cx="351130" cy="351130"/>
          </a:xfrm>
          <a:prstGeom prst="rect">
            <a:avLst/>
          </a:prstGeom>
        </p:spPr>
      </p:pic>
      <p:sp>
        <p:nvSpPr>
          <p:cNvPr id="16" name="Text 12"/>
          <p:cNvSpPr/>
          <p:nvPr/>
        </p:nvSpPr>
        <p:spPr>
          <a:xfrm>
            <a:off x="4597298" y="3794760"/>
            <a:ext cx="2997098" cy="411480"/>
          </a:xfrm>
          <a:prstGeom prst="rect">
            <a:avLst/>
          </a:prstGeom>
          <a:noFill/>
          <a:ln/>
        </p:spPr>
        <p:txBody>
          <a:bodyPr wrap="square" rtlCol="0" anchor="ctr"/>
          <a:lstStyle/>
          <a:p>
            <a:pPr algn="ctr" indent="0" marL="0">
              <a:buNone/>
            </a:pPr>
            <a:r>
              <a:rPr lang="en-US" sz="1400" b="1" dirty="0">
                <a:solidFill>
                  <a:srgbClr val="1B2733"/>
                </a:solidFill>
                <a:latin typeface="Calibri" pitchFamily="34" charset="0"/>
                <a:ea typeface="Calibri" pitchFamily="34" charset="-122"/>
                <a:cs typeface="Calibri" pitchFamily="34" charset="-120"/>
              </a:rPr>
              <a:t>Event duplikat (replay)</a:t>
            </a:r>
            <a:endParaRPr lang="en-US" sz="1400" dirty="0"/>
          </a:p>
        </p:txBody>
      </p:sp>
      <p:sp>
        <p:nvSpPr>
          <p:cNvPr id="17" name="Text 13"/>
          <p:cNvSpPr/>
          <p:nvPr/>
        </p:nvSpPr>
        <p:spPr>
          <a:xfrm>
            <a:off x="4643018" y="4251960"/>
            <a:ext cx="2905658" cy="1051560"/>
          </a:xfrm>
          <a:prstGeom prst="rect">
            <a:avLst/>
          </a:prstGeom>
          <a:noFill/>
          <a:ln/>
        </p:spPr>
        <p:txBody>
          <a:bodyPr wrap="square" rtlCol="0" anchor="ctr"/>
          <a:lstStyle/>
          <a:p>
            <a:pPr algn="ctr" indent="0" marL="0">
              <a:lnSpc>
                <a:spcPct val="120000"/>
              </a:lnSpc>
              <a:buNone/>
            </a:pPr>
            <a:r>
              <a:rPr lang="en-US" sz="1100" dirty="0">
                <a:solidFill>
                  <a:srgbClr val="5B6B78"/>
                </a:solidFill>
                <a:latin typeface="Calibri" pitchFamily="34" charset="0"/>
                <a:ea typeface="Calibri" pitchFamily="34" charset="-122"/>
                <a:cs typeface="Calibri" pitchFamily="34" charset="-120"/>
              </a:rPr>
              <a:t>ON CONFLICT DO NOTHING — tidak ada baris baru. hasil: "duplikat-diabaikan".</a:t>
            </a:r>
            <a:endParaRPr lang="en-US" sz="1100" dirty="0"/>
          </a:p>
        </p:txBody>
      </p:sp>
      <p:sp>
        <p:nvSpPr>
          <p:cNvPr id="18" name="Shape 14"/>
          <p:cNvSpPr/>
          <p:nvPr/>
        </p:nvSpPr>
        <p:spPr>
          <a:xfrm>
            <a:off x="4734458" y="5440680"/>
            <a:ext cx="2722778" cy="457200"/>
          </a:xfrm>
          <a:prstGeom prst="roundRect">
            <a:avLst>
              <a:gd name="adj" fmla="val 16000"/>
            </a:avLst>
          </a:prstGeom>
          <a:solidFill>
            <a:srgbClr val="1C7293"/>
          </a:solidFill>
          <a:ln/>
        </p:spPr>
      </p:sp>
      <p:sp>
        <p:nvSpPr>
          <p:cNvPr id="19" name="Text 15"/>
          <p:cNvSpPr/>
          <p:nvPr/>
        </p:nvSpPr>
        <p:spPr>
          <a:xfrm>
            <a:off x="4734458" y="5440680"/>
            <a:ext cx="2722778"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ACK</a:t>
            </a:r>
            <a:endParaRPr lang="en-US" sz="1100" dirty="0"/>
          </a:p>
        </p:txBody>
      </p:sp>
      <p:sp>
        <p:nvSpPr>
          <p:cNvPr id="20" name="Shape 16"/>
          <p:cNvSpPr/>
          <p:nvPr/>
        </p:nvSpPr>
        <p:spPr>
          <a:xfrm>
            <a:off x="8188757" y="2788920"/>
            <a:ext cx="3454298" cy="3291840"/>
          </a:xfrm>
          <a:prstGeom prst="roundRect">
            <a:avLst>
              <a:gd name="adj" fmla="val 2222"/>
            </a:avLst>
          </a:prstGeom>
          <a:solidFill>
            <a:srgbClr val="F4F7FA"/>
          </a:solidFill>
          <a:ln/>
        </p:spPr>
      </p:sp>
      <p:sp>
        <p:nvSpPr>
          <p:cNvPr id="21" name="Shape 17"/>
          <p:cNvSpPr/>
          <p:nvPr/>
        </p:nvSpPr>
        <p:spPr>
          <a:xfrm>
            <a:off x="9550146" y="2971800"/>
            <a:ext cx="731520" cy="731520"/>
          </a:xfrm>
          <a:prstGeom prst="ellipse">
            <a:avLst/>
          </a:prstGeom>
          <a:solidFill>
            <a:srgbClr val="B3423A"/>
          </a:solidFill>
          <a:ln/>
        </p:spPr>
      </p:sp>
      <p:pic>
        <p:nvPicPr>
          <p:cNvPr id="22" name="Image 2" descr="E:\_tmp_pptx_build\icons\xcircle.png">    </p:cNvPr>
          <p:cNvPicPr>
            <a:picLocks noChangeAspect="1"/>
          </p:cNvPicPr>
          <p:nvPr/>
        </p:nvPicPr>
        <p:blipFill>
          <a:blip r:embed="rId3"/>
          <a:stretch>
            <a:fillRect/>
          </a:stretch>
        </p:blipFill>
        <p:spPr>
          <a:xfrm>
            <a:off x="9740341" y="3161995"/>
            <a:ext cx="351130" cy="351130"/>
          </a:xfrm>
          <a:prstGeom prst="rect">
            <a:avLst/>
          </a:prstGeom>
        </p:spPr>
      </p:pic>
      <p:sp>
        <p:nvSpPr>
          <p:cNvPr id="23" name="Text 18"/>
          <p:cNvSpPr/>
          <p:nvPr/>
        </p:nvSpPr>
        <p:spPr>
          <a:xfrm>
            <a:off x="8417357" y="3794760"/>
            <a:ext cx="2997098" cy="411480"/>
          </a:xfrm>
          <a:prstGeom prst="rect">
            <a:avLst/>
          </a:prstGeom>
          <a:noFill/>
          <a:ln/>
        </p:spPr>
        <p:txBody>
          <a:bodyPr wrap="square" rtlCol="0" anchor="ctr"/>
          <a:lstStyle/>
          <a:p>
            <a:pPr algn="ctr" indent="0" marL="0">
              <a:buNone/>
            </a:pPr>
            <a:r>
              <a:rPr lang="en-US" sz="1400" b="1" dirty="0">
                <a:solidFill>
                  <a:srgbClr val="1B2733"/>
                </a:solidFill>
                <a:latin typeface="Calibri" pitchFamily="34" charset="0"/>
                <a:ea typeface="Calibri" pitchFamily="34" charset="-122"/>
                <a:cs typeface="Calibri" pitchFamily="34" charset="-120"/>
              </a:rPr>
              <a:t>Payload invalid</a:t>
            </a:r>
            <a:endParaRPr lang="en-US" sz="1400" dirty="0"/>
          </a:p>
        </p:txBody>
      </p:sp>
      <p:sp>
        <p:nvSpPr>
          <p:cNvPr id="24" name="Text 19"/>
          <p:cNvSpPr/>
          <p:nvPr/>
        </p:nvSpPr>
        <p:spPr>
          <a:xfrm>
            <a:off x="8463077" y="4251960"/>
            <a:ext cx="2905658" cy="1051560"/>
          </a:xfrm>
          <a:prstGeom prst="rect">
            <a:avLst/>
          </a:prstGeom>
          <a:noFill/>
          <a:ln/>
        </p:spPr>
        <p:txBody>
          <a:bodyPr wrap="square" rtlCol="0" anchor="ctr"/>
          <a:lstStyle/>
          <a:p>
            <a:pPr algn="ctr" indent="0" marL="0">
              <a:lnSpc>
                <a:spcPct val="120000"/>
              </a:lnSpc>
              <a:buNone/>
            </a:pPr>
            <a:r>
              <a:rPr lang="en-US" sz="1100" dirty="0">
                <a:solidFill>
                  <a:srgbClr val="5B6B78"/>
                </a:solidFill>
                <a:latin typeface="Calibri" pitchFamily="34" charset="0"/>
                <a:ea typeface="Calibri" pitchFamily="34" charset="-122"/>
                <a:cs typeface="Calibri" pitchFamily="34" charset="-120"/>
              </a:rPr>
              <a:t>Dicatat ke file_rejections, tidak menyentuh file_results.</a:t>
            </a:r>
            <a:endParaRPr lang="en-US" sz="1100" dirty="0"/>
          </a:p>
        </p:txBody>
      </p:sp>
      <p:sp>
        <p:nvSpPr>
          <p:cNvPr id="25" name="Shape 20"/>
          <p:cNvSpPr/>
          <p:nvPr/>
        </p:nvSpPr>
        <p:spPr>
          <a:xfrm>
            <a:off x="8554517" y="5440680"/>
            <a:ext cx="2722778" cy="457200"/>
          </a:xfrm>
          <a:prstGeom prst="roundRect">
            <a:avLst>
              <a:gd name="adj" fmla="val 16000"/>
            </a:avLst>
          </a:prstGeom>
          <a:solidFill>
            <a:srgbClr val="B3423A"/>
          </a:solidFill>
          <a:ln/>
        </p:spPr>
      </p:sp>
      <p:sp>
        <p:nvSpPr>
          <p:cNvPr id="26" name="Text 21"/>
          <p:cNvSpPr/>
          <p:nvPr/>
        </p:nvSpPr>
        <p:spPr>
          <a:xfrm>
            <a:off x="8554517" y="5440680"/>
            <a:ext cx="2722778"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NACK (requeue:false) → DLX</a:t>
            </a:r>
            <a:endParaRPr lang="en-US" sz="1100" dirty="0"/>
          </a:p>
        </p:txBody>
      </p:sp>
      <p:sp>
        <p:nvSpPr>
          <p:cNvPr id="27" name="Text 22"/>
          <p:cNvSpPr/>
          <p:nvPr/>
        </p:nvSpPr>
        <p:spPr>
          <a:xfrm>
            <a:off x="10728655" y="6400800"/>
            <a:ext cx="1097280" cy="274320"/>
          </a:xfrm>
          <a:prstGeom prst="rect">
            <a:avLst/>
          </a:prstGeom>
          <a:noFill/>
          <a:ln/>
        </p:spPr>
        <p:txBody>
          <a:bodyPr wrap="square" rtlCol="0" anchor="ctr"/>
          <a:lstStyle/>
          <a:p>
            <a:pPr algn="r" indent="0" marL="0">
              <a:buNone/>
            </a:pPr>
            <a:r>
              <a:rPr lang="en-US" sz="900" dirty="0">
                <a:solidFill>
                  <a:srgbClr val="5B6B78"/>
                </a:solidFill>
                <a:latin typeface="Calibri" pitchFamily="34" charset="0"/>
                <a:ea typeface="Calibri" pitchFamily="34" charset="-122"/>
                <a:cs typeface="Calibri" pitchFamily="34" charset="-120"/>
              </a:rPr>
              <a:t>06 / 12</a:t>
            </a:r>
            <a:endParaRPr lang="en-US" sz="900" dirty="0"/>
          </a:p>
        </p:txBody>
      </p:sp>
      <p:sp>
        <p:nvSpPr>
          <p:cNvPr id="28" name="Text 23"/>
          <p:cNvSpPr/>
          <p:nvPr/>
        </p:nvSpPr>
        <p:spPr>
          <a:xfrm>
            <a:off x="548640" y="6400800"/>
            <a:ext cx="3657600" cy="274320"/>
          </a:xfrm>
          <a:prstGeom prst="rect">
            <a:avLst/>
          </a:prstGeom>
          <a:noFill/>
          <a:ln/>
        </p:spPr>
        <p:txBody>
          <a:bodyPr wrap="square" rtlCol="0" anchor="ctr"/>
          <a:lstStyle/>
          <a:p>
            <a:pPr indent="0" marL="0">
              <a:buNone/>
            </a:pPr>
            <a:r>
              <a:rPr lang="en-US" sz="900" dirty="0">
                <a:solidFill>
                  <a:srgbClr val="5B6B78"/>
                </a:solidFill>
                <a:latin typeface="Calibri" pitchFamily="34" charset="0"/>
                <a:ea typeface="Calibri" pitchFamily="34" charset="-122"/>
                <a:cs typeface="Calibri" pitchFamily="34" charset="-120"/>
              </a:rPr>
              <a:t>A04-W · Pengolahan Berkas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rtlCol="0" anchor="ctr"/>
          <a:lstStyle/>
          <a:p>
            <a:pPr algn="l" indent="0" marL="0">
              <a:buNone/>
            </a:pPr>
            <a:r>
              <a:rPr lang="en-US" sz="1200" b="1" spc="200" kern="0" dirty="0">
                <a:solidFill>
                  <a:srgbClr val="1C7293"/>
                </a:solidFill>
                <a:latin typeface="Calibri" pitchFamily="34" charset="0"/>
                <a:ea typeface="Calibri" pitchFamily="34" charset="-122"/>
                <a:cs typeface="Calibri" pitchFamily="34" charset="-120"/>
              </a:rPr>
              <a:t>04 · BUKTI PENGUJIAN U1–U4</a:t>
            </a:r>
            <a:endParaRPr lang="en-US" sz="1200" dirty="0"/>
          </a:p>
        </p:txBody>
      </p:sp>
      <p:sp>
        <p:nvSpPr>
          <p:cNvPr id="3" name="Text 1"/>
          <p:cNvSpPr/>
          <p:nvPr/>
        </p:nvSpPr>
        <p:spPr>
          <a:xfrm>
            <a:off x="548640" y="658368"/>
            <a:ext cx="11094415" cy="777240"/>
          </a:xfrm>
          <a:prstGeom prst="rect">
            <a:avLst/>
          </a:prstGeom>
          <a:noFill/>
          <a:ln/>
        </p:spPr>
        <p:txBody>
          <a:bodyPr wrap="square" rtlCol="0" anchor="ctr"/>
          <a:lstStyle/>
          <a:p>
            <a:pPr algn="l" indent="0" marL="0">
              <a:buNone/>
            </a:pPr>
            <a:r>
              <a:rPr lang="en-US" sz="3200" b="1" dirty="0">
                <a:solidFill>
                  <a:srgbClr val="1B2733"/>
                </a:solidFill>
                <a:latin typeface="Cambria" pitchFamily="34" charset="0"/>
                <a:ea typeface="Cambria" pitchFamily="34" charset="-122"/>
                <a:cs typeface="Cambria" pitchFamily="34" charset="-120"/>
              </a:rPr>
              <a:t>Evidence matrix — run01, 23 September 2026</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914400"/>
                <a:gridCol w="4572000"/>
                <a:gridCol w="4599432"/>
                <a:gridCol w="1005840"/>
              </a:tblGrid>
              <a:tr h="45720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Uji</a:t>
                      </a:r>
                      <a:endParaRPr lang="en-US" sz="1200" dirty="0">
                        <a:latin typeface="Calibri" charset="0"/>
                        <a:ea typeface="Calibri" charset="0"/>
                        <a:cs typeface="Calibri" charset="0"/>
                      </a:endParaRPr>
                    </a:p>
                  </a:txBody>
                  <a:tcPr marL="91440" marR="91440" marT="45720" marB="45720"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065A8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Skenario</a:t>
                      </a:r>
                      <a:endParaRPr lang="en-US" sz="1200" dirty="0">
                        <a:latin typeface="Calibri" charset="0"/>
                        <a:ea typeface="Calibri" charset="0"/>
                        <a:cs typeface="Calibri" charset="0"/>
                      </a:endParaRPr>
                    </a:p>
                  </a:txBody>
                  <a:tcPr marL="91440" marR="91440" marT="45720" marB="45720"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065A8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Hasil Aktual</a:t>
                      </a:r>
                      <a:endParaRPr lang="en-US" sz="1200" dirty="0">
                        <a:latin typeface="Calibri" charset="0"/>
                        <a:ea typeface="Calibri" charset="0"/>
                        <a:cs typeface="Calibri" charset="0"/>
                      </a:endParaRPr>
                    </a:p>
                  </a:txBody>
                  <a:tcPr marL="91440" marR="91440" marT="45720" marB="45720"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065A8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91440" marR="91440" marT="45720" marB="45720"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065A82"/>
                    </a:solidFill>
                  </a:tcPr>
                </a:tc>
              </a:tr>
              <a:tr h="777240">
                <a:tc>
                  <a:txBody>
                    <a:bodyPr/>
                    <a:lstStyle/>
                    <a:p>
                      <a:pPr algn="ctr" indent="0" marL="0">
                        <a:buNone/>
                      </a:pPr>
                      <a:r>
                        <a:rPr lang="en-US" sz="1300" b="1" dirty="0">
                          <a:solidFill>
                            <a:srgbClr val="065A82"/>
                          </a:solidFill>
                          <a:latin typeface="Calibri" pitchFamily="34" charset="0"/>
                          <a:ea typeface="Calibri" pitchFamily="34" charset="-122"/>
                          <a:cs typeface="Calibri" pitchFamily="34" charset="-120"/>
                        </a:rPr>
                        <a:t>U1</a:t>
                      </a:r>
                      <a:endParaRPr lang="en-US" sz="1300" dirty="0">
                        <a:latin typeface="Calibri" charset="0"/>
                        <a:ea typeface="Calibri" charset="0"/>
                        <a:cs typeface="Calibri" charset="0"/>
                      </a:endParaRPr>
                    </a:p>
                  </a:txBody>
                  <a:tcPr marL="91440" marR="91440" marT="45720" marB="45720"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FFFFF"/>
                    </a:solidFill>
                  </a:tcPr>
                </a:tc>
                <a:tc>
                  <a:txBody>
                    <a:bodyPr/>
                    <a:lstStyle/>
                    <a:p>
                      <a:pPr indent="0" marL="0">
                        <a:buNone/>
                      </a:pPr>
                      <a:r>
                        <a:rPr lang="en-US" sz="1050" dirty="0">
                          <a:solidFill>
                            <a:srgbClr val="1B2733"/>
                          </a:solidFill>
                          <a:latin typeface="Calibri" pitchFamily="34" charset="0"/>
                          <a:ea typeface="Calibri" pitchFamily="34" charset="-122"/>
                          <a:cs typeface="Calibri" pitchFamily="34" charset="-120"/>
                        </a:rPr>
                        <a:t>20 event valid (N01–N20)</a:t>
                      </a:r>
                      <a:endParaRPr lang="en-US" sz="1050" dirty="0">
                        <a:latin typeface="Calibri" charset="0"/>
                        <a:ea typeface="Calibri" charset="0"/>
                        <a:cs typeface="Calibri" charset="0"/>
                      </a:endParaRPr>
                    </a:p>
                  </a:txBody>
                  <a:tcPr marL="91440" marR="91440" marT="45720" marB="45720"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FFFFF"/>
                    </a:solidFill>
                  </a:tcPr>
                </a:tc>
                <a:tc>
                  <a:txBody>
                    <a:bodyPr/>
                    <a:lstStyle/>
                    <a:p>
                      <a:pPr indent="0" marL="0">
                        <a:buNone/>
                      </a:pPr>
                      <a:r>
                        <a:rPr lang="en-US" sz="1000" dirty="0">
                          <a:solidFill>
                            <a:srgbClr val="1B2733"/>
                          </a:solidFill>
                          <a:latin typeface="Calibri" pitchFamily="34" charset="0"/>
                          <a:ea typeface="Calibri" pitchFamily="34" charset="-122"/>
                          <a:cs typeface="Calibri" pitchFamily="34" charset="-120"/>
                        </a:rPr>
                        <a:t>20 baris baru di file_results; himpunan event_id input = output (142 ms)</a:t>
                      </a:r>
                      <a:endParaRPr lang="en-US" sz="1000" dirty="0">
                        <a:latin typeface="Calibri" charset="0"/>
                        <a:ea typeface="Calibri" charset="0"/>
                        <a:cs typeface="Calibri" charset="0"/>
                      </a:endParaRPr>
                    </a:p>
                  </a:txBody>
                  <a:tcPr marL="91440" marR="91440" marT="45720" marB="45720"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E8E5A"/>
                          </a:solidFill>
                          <a:latin typeface="Calibri" pitchFamily="34" charset="0"/>
                          <a:ea typeface="Calibri" pitchFamily="34" charset="-122"/>
                          <a:cs typeface="Calibri" pitchFamily="34" charset="-120"/>
                        </a:rPr>
                        <a:t>LULUS</a:t>
                      </a:r>
                      <a:endParaRPr lang="en-US" sz="1100" dirty="0">
                        <a:latin typeface="Calibri" charset="0"/>
                        <a:ea typeface="Calibri" charset="0"/>
                        <a:cs typeface="Calibri" charset="0"/>
                      </a:endParaRPr>
                    </a:p>
                  </a:txBody>
                  <a:tcPr marL="91440" marR="91440" marT="45720" marB="45720"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FFFFF"/>
                    </a:solidFill>
                  </a:tcPr>
                </a:tc>
              </a:tr>
              <a:tr h="868680">
                <a:tc>
                  <a:txBody>
                    <a:bodyPr/>
                    <a:lstStyle/>
                    <a:p>
                      <a:pPr algn="ctr" indent="0" marL="0">
                        <a:buNone/>
                      </a:pPr>
                      <a:r>
                        <a:rPr lang="en-US" sz="1300" b="1" dirty="0">
                          <a:solidFill>
                            <a:srgbClr val="065A82"/>
                          </a:solidFill>
                          <a:latin typeface="Calibri" pitchFamily="34" charset="0"/>
                          <a:ea typeface="Calibri" pitchFamily="34" charset="-122"/>
                          <a:cs typeface="Calibri" pitchFamily="34" charset="-120"/>
                        </a:rPr>
                        <a:t>U2</a:t>
                      </a:r>
                      <a:endParaRPr lang="en-US" sz="1300" dirty="0">
                        <a:latin typeface="Calibri" charset="0"/>
                        <a:ea typeface="Calibri" charset="0"/>
                        <a:cs typeface="Calibri" charset="0"/>
                      </a:endParaRPr>
                    </a:p>
                  </a:txBody>
                  <a:tcPr marL="91440" marR="91440" marT="45720" marB="45720"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4F7FA"/>
                    </a:solidFill>
                  </a:tcPr>
                </a:tc>
                <a:tc>
                  <a:txBody>
                    <a:bodyPr/>
                    <a:lstStyle/>
                    <a:p>
                      <a:pPr indent="0" marL="0">
                        <a:buNone/>
                      </a:pPr>
                      <a:r>
                        <a:rPr lang="en-US" sz="1050" dirty="0">
                          <a:solidFill>
                            <a:srgbClr val="1B2733"/>
                          </a:solidFill>
                          <a:latin typeface="Calibri" pitchFamily="34" charset="0"/>
                          <a:ea typeface="Calibri" pitchFamily="34" charset="-122"/>
                          <a:cs typeface="Calibri" pitchFamily="34" charset="-120"/>
                        </a:rPr>
                        <a:t>Worker dimatikan paksa + 5 event baru (G01–G05)</a:t>
                      </a:r>
                      <a:endParaRPr lang="en-US" sz="1050" dirty="0">
                        <a:latin typeface="Calibri" charset="0"/>
                        <a:ea typeface="Calibri" charset="0"/>
                        <a:cs typeface="Calibri" charset="0"/>
                      </a:endParaRPr>
                    </a:p>
                  </a:txBody>
                  <a:tcPr marL="91440" marR="91440" marT="45720" marB="45720"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4F7FA"/>
                    </a:solidFill>
                  </a:tcPr>
                </a:tc>
                <a:tc>
                  <a:txBody>
                    <a:bodyPr/>
                    <a:lstStyle/>
                    <a:p>
                      <a:pPr indent="0" marL="0">
                        <a:buNone/>
                      </a:pPr>
                      <a:r>
                        <a:rPr lang="en-US" sz="1000" dirty="0">
                          <a:solidFill>
                            <a:srgbClr val="1B2733"/>
                          </a:solidFill>
                          <a:latin typeface="Calibri" pitchFamily="34" charset="0"/>
                          <a:ea typeface="Calibri" pitchFamily="34" charset="-122"/>
                          <a:cs typeface="Calibri" pitchFamily="34" charset="-120"/>
                        </a:rPr>
                        <a:t>Snapshot mati: ready=5, unacked=0, consumers=0. Pulih → 5 event otomatis selesai. Total 20→25 (221 ms)</a:t>
                      </a:r>
                      <a:endParaRPr lang="en-US" sz="1000" dirty="0">
                        <a:latin typeface="Calibri" charset="0"/>
                        <a:ea typeface="Calibri" charset="0"/>
                        <a:cs typeface="Calibri" charset="0"/>
                      </a:endParaRPr>
                    </a:p>
                  </a:txBody>
                  <a:tcPr marL="91440" marR="91440" marT="45720" marB="45720"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4F7FA"/>
                    </a:solidFill>
                  </a:tcPr>
                </a:tc>
                <a:tc>
                  <a:txBody>
                    <a:bodyPr/>
                    <a:lstStyle/>
                    <a:p>
                      <a:pPr algn="ctr" indent="0" marL="0">
                        <a:buNone/>
                      </a:pPr>
                      <a:r>
                        <a:rPr lang="en-US" sz="1100" b="1" dirty="0">
                          <a:solidFill>
                            <a:srgbClr val="1E8E5A"/>
                          </a:solidFill>
                          <a:latin typeface="Calibri" pitchFamily="34" charset="0"/>
                          <a:ea typeface="Calibri" pitchFamily="34" charset="-122"/>
                          <a:cs typeface="Calibri" pitchFamily="34" charset="-120"/>
                        </a:rPr>
                        <a:t>LULUS</a:t>
                      </a:r>
                      <a:endParaRPr lang="en-US" sz="1100" dirty="0">
                        <a:latin typeface="Calibri" charset="0"/>
                        <a:ea typeface="Calibri" charset="0"/>
                        <a:cs typeface="Calibri" charset="0"/>
                      </a:endParaRPr>
                    </a:p>
                  </a:txBody>
                  <a:tcPr marL="91440" marR="91440" marT="45720" marB="45720"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4F7FA"/>
                    </a:solidFill>
                  </a:tcPr>
                </a:tc>
              </a:tr>
              <a:tr h="777240">
                <a:tc>
                  <a:txBody>
                    <a:bodyPr/>
                    <a:lstStyle/>
                    <a:p>
                      <a:pPr algn="ctr" indent="0" marL="0">
                        <a:buNone/>
                      </a:pPr>
                      <a:r>
                        <a:rPr lang="en-US" sz="1300" b="1" dirty="0">
                          <a:solidFill>
                            <a:srgbClr val="065A82"/>
                          </a:solidFill>
                          <a:latin typeface="Calibri" pitchFamily="34" charset="0"/>
                          <a:ea typeface="Calibri" pitchFamily="34" charset="-122"/>
                          <a:cs typeface="Calibri" pitchFamily="34" charset="-120"/>
                        </a:rPr>
                        <a:t>U3</a:t>
                      </a:r>
                      <a:endParaRPr lang="en-US" sz="1300" dirty="0">
                        <a:latin typeface="Calibri" charset="0"/>
                        <a:ea typeface="Calibri" charset="0"/>
                        <a:cs typeface="Calibri" charset="0"/>
                      </a:endParaRPr>
                    </a:p>
                  </a:txBody>
                  <a:tcPr marL="91440" marR="91440" marT="45720" marB="45720"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FFFFF"/>
                    </a:solidFill>
                  </a:tcPr>
                </a:tc>
                <a:tc>
                  <a:txBody>
                    <a:bodyPr/>
                    <a:lstStyle/>
                    <a:p>
                      <a:pPr indent="0" marL="0">
                        <a:buNone/>
                      </a:pPr>
                      <a:r>
                        <a:rPr lang="en-US" sz="1050" dirty="0">
                          <a:solidFill>
                            <a:srgbClr val="1B2733"/>
                          </a:solidFill>
                          <a:latin typeface="Calibri" pitchFamily="34" charset="0"/>
                          <a:ea typeface="Calibri" pitchFamily="34" charset="-122"/>
                          <a:cs typeface="Calibri" pitchFamily="34" charset="-120"/>
                        </a:rPr>
                        <a:t>Replay N01–N05, event_id + payload identik</a:t>
                      </a:r>
                      <a:endParaRPr lang="en-US" sz="1050" dirty="0">
                        <a:latin typeface="Calibri" charset="0"/>
                        <a:ea typeface="Calibri" charset="0"/>
                        <a:cs typeface="Calibri" charset="0"/>
                      </a:endParaRPr>
                    </a:p>
                  </a:txBody>
                  <a:tcPr marL="91440" marR="91440" marT="45720" marB="45720"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FFFFF"/>
                    </a:solidFill>
                  </a:tcPr>
                </a:tc>
                <a:tc>
                  <a:txBody>
                    <a:bodyPr/>
                    <a:lstStyle/>
                    <a:p>
                      <a:pPr indent="0" marL="0">
                        <a:buNone/>
                      </a:pPr>
                      <a:r>
                        <a:rPr lang="en-US" sz="1000" dirty="0">
                          <a:solidFill>
                            <a:srgbClr val="1B2733"/>
                          </a:solidFill>
                          <a:latin typeface="Calibri" pitchFamily="34" charset="0"/>
                          <a:ea typeface="Calibri" pitchFamily="34" charset="-122"/>
                          <a:cs typeface="Calibri" pitchFamily="34" charset="-120"/>
                        </a:rPr>
                        <a:t>Log: "duplikat-diabaikan" × 5. Jumlah tetap 25 (176 ms)</a:t>
                      </a:r>
                      <a:endParaRPr lang="en-US" sz="1000" dirty="0">
                        <a:latin typeface="Calibri" charset="0"/>
                        <a:ea typeface="Calibri" charset="0"/>
                        <a:cs typeface="Calibri" charset="0"/>
                      </a:endParaRPr>
                    </a:p>
                  </a:txBody>
                  <a:tcPr marL="91440" marR="91440" marT="45720" marB="45720"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E8E5A"/>
                          </a:solidFill>
                          <a:latin typeface="Calibri" pitchFamily="34" charset="0"/>
                          <a:ea typeface="Calibri" pitchFamily="34" charset="-122"/>
                          <a:cs typeface="Calibri" pitchFamily="34" charset="-120"/>
                        </a:rPr>
                        <a:t>LULUS</a:t>
                      </a:r>
                      <a:endParaRPr lang="en-US" sz="1100" dirty="0">
                        <a:latin typeface="Calibri" charset="0"/>
                        <a:ea typeface="Calibri" charset="0"/>
                        <a:cs typeface="Calibri" charset="0"/>
                      </a:endParaRPr>
                    </a:p>
                  </a:txBody>
                  <a:tcPr marL="91440" marR="91440" marT="45720" marB="45720"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FFFFF"/>
                    </a:solidFill>
                  </a:tcPr>
                </a:tc>
              </a:tr>
              <a:tr h="777240">
                <a:tc>
                  <a:txBody>
                    <a:bodyPr/>
                    <a:lstStyle/>
                    <a:p>
                      <a:pPr algn="ctr" indent="0" marL="0">
                        <a:buNone/>
                      </a:pPr>
                      <a:r>
                        <a:rPr lang="en-US" sz="1300" b="1" dirty="0">
                          <a:solidFill>
                            <a:srgbClr val="065A82"/>
                          </a:solidFill>
                          <a:latin typeface="Calibri" pitchFamily="34" charset="0"/>
                          <a:ea typeface="Calibri" pitchFamily="34" charset="-122"/>
                          <a:cs typeface="Calibri" pitchFamily="34" charset="-120"/>
                        </a:rPr>
                        <a:t>U4</a:t>
                      </a:r>
                      <a:endParaRPr lang="en-US" sz="1300" dirty="0">
                        <a:latin typeface="Calibri" charset="0"/>
                        <a:ea typeface="Calibri" charset="0"/>
                        <a:cs typeface="Calibri" charset="0"/>
                      </a:endParaRPr>
                    </a:p>
                  </a:txBody>
                  <a:tcPr marL="91440" marR="91440" marT="45720" marB="45720"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4F7FA"/>
                    </a:solidFill>
                  </a:tcPr>
                </a:tc>
                <a:tc>
                  <a:txBody>
                    <a:bodyPr/>
                    <a:lstStyle/>
                    <a:p>
                      <a:pPr indent="0" marL="0">
                        <a:buNone/>
                      </a:pPr>
                      <a:r>
                        <a:rPr lang="en-US" sz="1050" dirty="0">
                          <a:solidFill>
                            <a:srgbClr val="1B2733"/>
                          </a:solidFill>
                          <a:latin typeface="Calibri" pitchFamily="34" charset="0"/>
                          <a:ea typeface="Calibri" pitchFamily="34" charset="-122"/>
                          <a:cs typeface="Calibri" pitchFamily="34" charset="-120"/>
                        </a:rPr>
                        <a:t>X01 invalid (file_id tak terdaftar) + V01 valid</a:t>
                      </a:r>
                      <a:endParaRPr lang="en-US" sz="1050" dirty="0">
                        <a:latin typeface="Calibri" charset="0"/>
                        <a:ea typeface="Calibri" charset="0"/>
                        <a:cs typeface="Calibri" charset="0"/>
                      </a:endParaRPr>
                    </a:p>
                  </a:txBody>
                  <a:tcPr marL="91440" marR="91440" marT="45720" marB="45720"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4F7FA"/>
                    </a:solidFill>
                  </a:tcPr>
                </a:tc>
                <a:tc>
                  <a:txBody>
                    <a:bodyPr/>
                    <a:lstStyle/>
                    <a:p>
                      <a:pPr indent="0" marL="0">
                        <a:buNone/>
                      </a:pPr>
                      <a:r>
                        <a:rPr lang="en-US" sz="1000" dirty="0">
                          <a:solidFill>
                            <a:srgbClr val="1B2733"/>
                          </a:solidFill>
                          <a:latin typeface="Calibri" pitchFamily="34" charset="0"/>
                          <a:ea typeface="Calibri" pitchFamily="34" charset="-122"/>
                          <a:cs typeface="Calibri" pitchFamily="34" charset="-120"/>
                        </a:rPr>
                        <a:t>X01 → file_rejections + DLQ, tanpa efek bisnis. V01 selesai. Total 25→26 (133 ms)</a:t>
                      </a:r>
                      <a:endParaRPr lang="en-US" sz="1000" dirty="0">
                        <a:latin typeface="Calibri" charset="0"/>
                        <a:ea typeface="Calibri" charset="0"/>
                        <a:cs typeface="Calibri" charset="0"/>
                      </a:endParaRPr>
                    </a:p>
                  </a:txBody>
                  <a:tcPr marL="91440" marR="91440" marT="45720" marB="45720"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4F7FA"/>
                    </a:solidFill>
                  </a:tcPr>
                </a:tc>
                <a:tc>
                  <a:txBody>
                    <a:bodyPr/>
                    <a:lstStyle/>
                    <a:p>
                      <a:pPr algn="ctr" indent="0" marL="0">
                        <a:buNone/>
                      </a:pPr>
                      <a:r>
                        <a:rPr lang="en-US" sz="1100" b="1" dirty="0">
                          <a:solidFill>
                            <a:srgbClr val="1E8E5A"/>
                          </a:solidFill>
                          <a:latin typeface="Calibri" pitchFamily="34" charset="0"/>
                          <a:ea typeface="Calibri" pitchFamily="34" charset="-122"/>
                          <a:cs typeface="Calibri" pitchFamily="34" charset="-120"/>
                        </a:rPr>
                        <a:t>LULUS</a:t>
                      </a:r>
                      <a:endParaRPr lang="en-US" sz="1100" dirty="0">
                        <a:latin typeface="Calibri" charset="0"/>
                        <a:ea typeface="Calibri" charset="0"/>
                        <a:cs typeface="Calibri" charset="0"/>
                      </a:endParaRPr>
                    </a:p>
                  </a:txBody>
                  <a:tcPr marL="91440" marR="91440" marT="45720" marB="45720"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4F7FA"/>
                    </a:solidFill>
                  </a:tcPr>
                </a:tc>
              </a:tr>
            </a:tbl>
          </a:graphicData>
        </a:graphic>
      </p:graphicFrame>
      <p:sp>
        <p:nvSpPr>
          <p:cNvPr id="5" name="Text 2"/>
          <p:cNvSpPr/>
          <p:nvPr/>
        </p:nvSpPr>
        <p:spPr>
          <a:xfrm>
            <a:off x="548640" y="5623560"/>
            <a:ext cx="11094415" cy="457200"/>
          </a:xfrm>
          <a:prstGeom prst="rect">
            <a:avLst/>
          </a:prstGeom>
          <a:noFill/>
          <a:ln/>
        </p:spPr>
        <p:txBody>
          <a:bodyPr wrap="square" rtlCol="0" anchor="ctr"/>
          <a:lstStyle/>
          <a:p>
            <a:pPr indent="0" marL="0">
              <a:buNone/>
            </a:pPr>
            <a:r>
              <a:rPr lang="en-US" sz="1050" i="1" dirty="0">
                <a:solidFill>
                  <a:srgbClr val="5B6B78"/>
                </a:solidFill>
                <a:latin typeface="Calibri" pitchFamily="34" charset="0"/>
                <a:ea typeface="Calibri" pitchFamily="34" charset="-122"/>
                <a:cs typeface="Calibri" pitchFamily="34" charset="-120"/>
              </a:rPr>
              <a:t>Batas tunggu polling 60 detik per uji — keempat uji tercapai jauh di bawah batas (133–221 ms). 0 pesan tak ter-route sepanjang pengujian (files.tanpa_rute.q selalu 0).</a:t>
            </a:r>
            <a:endParaRPr lang="en-US" sz="1050" dirty="0"/>
          </a:p>
        </p:txBody>
      </p:sp>
      <p:sp>
        <p:nvSpPr>
          <p:cNvPr id="6" name="Text 3"/>
          <p:cNvSpPr/>
          <p:nvPr/>
        </p:nvSpPr>
        <p:spPr>
          <a:xfrm>
            <a:off x="10728655" y="6400800"/>
            <a:ext cx="1097280" cy="274320"/>
          </a:xfrm>
          <a:prstGeom prst="rect">
            <a:avLst/>
          </a:prstGeom>
          <a:noFill/>
          <a:ln/>
        </p:spPr>
        <p:txBody>
          <a:bodyPr wrap="square" rtlCol="0" anchor="ctr"/>
          <a:lstStyle/>
          <a:p>
            <a:pPr algn="r" indent="0" marL="0">
              <a:buNone/>
            </a:pPr>
            <a:r>
              <a:rPr lang="en-US" sz="900" dirty="0">
                <a:solidFill>
                  <a:srgbClr val="5B6B78"/>
                </a:solidFill>
                <a:latin typeface="Calibri" pitchFamily="34" charset="0"/>
                <a:ea typeface="Calibri" pitchFamily="34" charset="-122"/>
                <a:cs typeface="Calibri" pitchFamily="34" charset="-120"/>
              </a:rPr>
              <a:t>07 / 12</a:t>
            </a:r>
            <a:endParaRPr lang="en-US" sz="900" dirty="0"/>
          </a:p>
        </p:txBody>
      </p:sp>
      <p:sp>
        <p:nvSpPr>
          <p:cNvPr id="7" name="Text 4"/>
          <p:cNvSpPr/>
          <p:nvPr/>
        </p:nvSpPr>
        <p:spPr>
          <a:xfrm>
            <a:off x="548640" y="6400800"/>
            <a:ext cx="3657600" cy="274320"/>
          </a:xfrm>
          <a:prstGeom prst="rect">
            <a:avLst/>
          </a:prstGeom>
          <a:noFill/>
          <a:ln/>
        </p:spPr>
        <p:txBody>
          <a:bodyPr wrap="square" rtlCol="0" anchor="ctr"/>
          <a:lstStyle/>
          <a:p>
            <a:pPr indent="0" marL="0">
              <a:buNone/>
            </a:pPr>
            <a:r>
              <a:rPr lang="en-US" sz="900" dirty="0">
                <a:solidFill>
                  <a:srgbClr val="5B6B78"/>
                </a:solidFill>
                <a:latin typeface="Calibri" pitchFamily="34" charset="0"/>
                <a:ea typeface="Calibri" pitchFamily="34" charset="-122"/>
                <a:cs typeface="Calibri" pitchFamily="34" charset="-120"/>
              </a:rPr>
              <a:t>A04-W · Pengolahan Berkas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rtlCol="0" anchor="ctr"/>
          <a:lstStyle/>
          <a:p>
            <a:pPr algn="l" indent="0" marL="0">
              <a:buNone/>
            </a:pPr>
            <a:r>
              <a:rPr lang="en-US" sz="1200" b="1" spc="200" kern="0" dirty="0">
                <a:solidFill>
                  <a:srgbClr val="9AB6D6"/>
                </a:solidFill>
                <a:latin typeface="Calibri" pitchFamily="34" charset="0"/>
                <a:ea typeface="Calibri" pitchFamily="34" charset="-122"/>
                <a:cs typeface="Calibri" pitchFamily="34" charset="-120"/>
              </a:rPr>
              <a:t>04 · BUKTI PENGUJIAN U1–U4</a:t>
            </a:r>
            <a:endParaRPr lang="en-US" sz="1200" dirty="0"/>
          </a:p>
        </p:txBody>
      </p:sp>
      <p:sp>
        <p:nvSpPr>
          <p:cNvPr id="3" name="Text 1"/>
          <p:cNvSpPr/>
          <p:nvPr/>
        </p:nvSpPr>
        <p:spPr>
          <a:xfrm>
            <a:off x="548640" y="658368"/>
            <a:ext cx="11094415" cy="777240"/>
          </a:xfrm>
          <a:prstGeom prst="rect">
            <a:avLst/>
          </a:prstGeom>
          <a:noFill/>
          <a:ln/>
        </p:spPr>
        <p:txBody>
          <a:bodyPr wrap="square"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Angka bisnis bertambah, tidak pernah berlipat ganda</a:t>
            </a:r>
            <a:endParaRPr lang="en-US" sz="3200" dirty="0"/>
          </a:p>
        </p:txBody>
      </p:sp>
      <p:sp>
        <p:nvSpPr>
          <p:cNvPr id="4" name="Text 2"/>
          <p:cNvSpPr/>
          <p:nvPr/>
        </p:nvSpPr>
        <p:spPr>
          <a:xfrm>
            <a:off x="838048" y="2560320"/>
            <a:ext cx="2286000" cy="1005840"/>
          </a:xfrm>
          <a:prstGeom prst="rect">
            <a:avLst/>
          </a:prstGeom>
          <a:noFill/>
          <a:ln/>
        </p:spPr>
        <p:txBody>
          <a:bodyPr wrap="square" rtlCol="0" anchor="ctr"/>
          <a:lstStyle/>
          <a:p>
            <a:pPr algn="ctr" indent="0" marL="0">
              <a:buNone/>
            </a:pPr>
            <a:r>
              <a:rPr lang="en-US" sz="5600" b="1" dirty="0">
                <a:solidFill>
                  <a:srgbClr val="FFFFFF"/>
                </a:solidFill>
                <a:latin typeface="Cambria" pitchFamily="34" charset="0"/>
                <a:ea typeface="Cambria" pitchFamily="34" charset="-122"/>
                <a:cs typeface="Cambria" pitchFamily="34" charset="-120"/>
              </a:rPr>
              <a:t>20</a:t>
            </a:r>
            <a:endParaRPr lang="en-US" sz="5600" dirty="0"/>
          </a:p>
        </p:txBody>
      </p:sp>
      <p:sp>
        <p:nvSpPr>
          <p:cNvPr id="5" name="Text 3"/>
          <p:cNvSpPr/>
          <p:nvPr/>
        </p:nvSpPr>
        <p:spPr>
          <a:xfrm>
            <a:off x="655168" y="3630168"/>
            <a:ext cx="2651760" cy="365760"/>
          </a:xfrm>
          <a:prstGeom prst="rect">
            <a:avLst/>
          </a:prstGeom>
          <a:noFill/>
          <a:ln/>
        </p:spPr>
        <p:txBody>
          <a:bodyPr wrap="square" rtlCol="0" anchor="ctr"/>
          <a:lstStyle/>
          <a:p>
            <a:pPr algn="ctr" indent="0" marL="0">
              <a:buNone/>
            </a:pPr>
            <a:r>
              <a:rPr lang="en-US" sz="1200" dirty="0">
                <a:solidFill>
                  <a:srgbClr val="CADCFC"/>
                </a:solidFill>
                <a:latin typeface="Calibri" pitchFamily="34" charset="0"/>
                <a:ea typeface="Calibri" pitchFamily="34" charset="-122"/>
                <a:cs typeface="Calibri" pitchFamily="34" charset="-120"/>
              </a:rPr>
              <a:t>U1 — baseline</a:t>
            </a:r>
            <a:endParaRPr lang="en-US" sz="1200" dirty="0"/>
          </a:p>
        </p:txBody>
      </p:sp>
      <p:sp>
        <p:nvSpPr>
          <p:cNvPr id="6" name="Shape 4"/>
          <p:cNvSpPr/>
          <p:nvPr/>
        </p:nvSpPr>
        <p:spPr>
          <a:xfrm>
            <a:off x="3169768" y="3008376"/>
            <a:ext cx="365760" cy="201168"/>
          </a:xfrm>
          <a:prstGeom prst="rightArrow">
            <a:avLst/>
          </a:prstGeom>
          <a:solidFill>
            <a:srgbClr val="5C79B0"/>
          </a:solidFill>
          <a:ln/>
        </p:spPr>
      </p:sp>
      <p:sp>
        <p:nvSpPr>
          <p:cNvPr id="7" name="Text 5"/>
          <p:cNvSpPr/>
          <p:nvPr/>
        </p:nvSpPr>
        <p:spPr>
          <a:xfrm>
            <a:off x="3581248" y="2560320"/>
            <a:ext cx="2286000" cy="1005840"/>
          </a:xfrm>
          <a:prstGeom prst="rect">
            <a:avLst/>
          </a:prstGeom>
          <a:noFill/>
          <a:ln/>
        </p:spPr>
        <p:txBody>
          <a:bodyPr wrap="square" rtlCol="0" anchor="ctr"/>
          <a:lstStyle/>
          <a:p>
            <a:pPr algn="ctr" indent="0" marL="0">
              <a:buNone/>
            </a:pPr>
            <a:r>
              <a:rPr lang="en-US" sz="5600" b="1" dirty="0">
                <a:solidFill>
                  <a:srgbClr val="FFFFFF"/>
                </a:solidFill>
                <a:latin typeface="Cambria" pitchFamily="34" charset="0"/>
                <a:ea typeface="Cambria" pitchFamily="34" charset="-122"/>
                <a:cs typeface="Cambria" pitchFamily="34" charset="-120"/>
              </a:rPr>
              <a:t>25</a:t>
            </a:r>
            <a:endParaRPr lang="en-US" sz="5600" dirty="0"/>
          </a:p>
        </p:txBody>
      </p:sp>
      <p:sp>
        <p:nvSpPr>
          <p:cNvPr id="8" name="Text 6"/>
          <p:cNvSpPr/>
          <p:nvPr/>
        </p:nvSpPr>
        <p:spPr>
          <a:xfrm>
            <a:off x="3398368" y="3630168"/>
            <a:ext cx="2651760" cy="365760"/>
          </a:xfrm>
          <a:prstGeom prst="rect">
            <a:avLst/>
          </a:prstGeom>
          <a:noFill/>
          <a:ln/>
        </p:spPr>
        <p:txBody>
          <a:bodyPr wrap="square" rtlCol="0" anchor="ctr"/>
          <a:lstStyle/>
          <a:p>
            <a:pPr algn="ctr" indent="0" marL="0">
              <a:buNone/>
            </a:pPr>
            <a:r>
              <a:rPr lang="en-US" sz="1200" dirty="0">
                <a:solidFill>
                  <a:srgbClr val="CADCFC"/>
                </a:solidFill>
                <a:latin typeface="Calibri" pitchFamily="34" charset="0"/>
                <a:ea typeface="Calibri" pitchFamily="34" charset="-122"/>
                <a:cs typeface="Calibri" pitchFamily="34" charset="-120"/>
              </a:rPr>
              <a:t>U2 — pemulihan</a:t>
            </a:r>
            <a:endParaRPr lang="en-US" sz="1200" dirty="0"/>
          </a:p>
        </p:txBody>
      </p:sp>
      <p:sp>
        <p:nvSpPr>
          <p:cNvPr id="9" name="Shape 7"/>
          <p:cNvSpPr/>
          <p:nvPr/>
        </p:nvSpPr>
        <p:spPr>
          <a:xfrm>
            <a:off x="5912968" y="3008376"/>
            <a:ext cx="365760" cy="201168"/>
          </a:xfrm>
          <a:prstGeom prst="rightArrow">
            <a:avLst/>
          </a:prstGeom>
          <a:solidFill>
            <a:srgbClr val="5C79B0"/>
          </a:solidFill>
          <a:ln/>
        </p:spPr>
      </p:sp>
      <p:sp>
        <p:nvSpPr>
          <p:cNvPr id="10" name="Text 8"/>
          <p:cNvSpPr/>
          <p:nvPr/>
        </p:nvSpPr>
        <p:spPr>
          <a:xfrm>
            <a:off x="6324448" y="2560320"/>
            <a:ext cx="2286000" cy="1005840"/>
          </a:xfrm>
          <a:prstGeom prst="rect">
            <a:avLst/>
          </a:prstGeom>
          <a:noFill/>
          <a:ln/>
        </p:spPr>
        <p:txBody>
          <a:bodyPr wrap="square" rtlCol="0" anchor="ctr"/>
          <a:lstStyle/>
          <a:p>
            <a:pPr algn="ctr" indent="0" marL="0">
              <a:buNone/>
            </a:pPr>
            <a:r>
              <a:rPr lang="en-US" sz="5600" b="1" dirty="0">
                <a:solidFill>
                  <a:srgbClr val="FFFFFF"/>
                </a:solidFill>
                <a:latin typeface="Cambria" pitchFamily="34" charset="0"/>
                <a:ea typeface="Cambria" pitchFamily="34" charset="-122"/>
                <a:cs typeface="Cambria" pitchFamily="34" charset="-120"/>
              </a:rPr>
              <a:t>25</a:t>
            </a:r>
            <a:endParaRPr lang="en-US" sz="5600" dirty="0"/>
          </a:p>
        </p:txBody>
      </p:sp>
      <p:sp>
        <p:nvSpPr>
          <p:cNvPr id="11" name="Text 9"/>
          <p:cNvSpPr/>
          <p:nvPr/>
        </p:nvSpPr>
        <p:spPr>
          <a:xfrm>
            <a:off x="6141568" y="3630168"/>
            <a:ext cx="2651760" cy="365760"/>
          </a:xfrm>
          <a:prstGeom prst="rect">
            <a:avLst/>
          </a:prstGeom>
          <a:noFill/>
          <a:ln/>
        </p:spPr>
        <p:txBody>
          <a:bodyPr wrap="square" rtlCol="0" anchor="ctr"/>
          <a:lstStyle/>
          <a:p>
            <a:pPr algn="ctr" indent="0" marL="0">
              <a:buNone/>
            </a:pPr>
            <a:r>
              <a:rPr lang="en-US" sz="1200" dirty="0">
                <a:solidFill>
                  <a:srgbClr val="CADCFC"/>
                </a:solidFill>
                <a:latin typeface="Calibri" pitchFamily="34" charset="0"/>
                <a:ea typeface="Calibri" pitchFamily="34" charset="-122"/>
                <a:cs typeface="Calibri" pitchFamily="34" charset="-120"/>
              </a:rPr>
              <a:t>U3 — replay aman</a:t>
            </a:r>
            <a:endParaRPr lang="en-US" sz="1200" dirty="0"/>
          </a:p>
        </p:txBody>
      </p:sp>
      <p:sp>
        <p:nvSpPr>
          <p:cNvPr id="12" name="Shape 10"/>
          <p:cNvSpPr/>
          <p:nvPr/>
        </p:nvSpPr>
        <p:spPr>
          <a:xfrm>
            <a:off x="8656168" y="3008376"/>
            <a:ext cx="365760" cy="201168"/>
          </a:xfrm>
          <a:prstGeom prst="rightArrow">
            <a:avLst/>
          </a:prstGeom>
          <a:solidFill>
            <a:srgbClr val="5C79B0"/>
          </a:solidFill>
          <a:ln/>
        </p:spPr>
      </p:sp>
      <p:sp>
        <p:nvSpPr>
          <p:cNvPr id="13" name="Text 11"/>
          <p:cNvSpPr/>
          <p:nvPr/>
        </p:nvSpPr>
        <p:spPr>
          <a:xfrm>
            <a:off x="9067648" y="2560320"/>
            <a:ext cx="2286000" cy="1005840"/>
          </a:xfrm>
          <a:prstGeom prst="rect">
            <a:avLst/>
          </a:prstGeom>
          <a:noFill/>
          <a:ln/>
        </p:spPr>
        <p:txBody>
          <a:bodyPr wrap="square" rtlCol="0" anchor="ctr"/>
          <a:lstStyle/>
          <a:p>
            <a:pPr algn="ctr" indent="0" marL="0">
              <a:buNone/>
            </a:pPr>
            <a:r>
              <a:rPr lang="en-US" sz="5600" b="1" dirty="0">
                <a:solidFill>
                  <a:srgbClr val="C98A3A"/>
                </a:solidFill>
                <a:latin typeface="Cambria" pitchFamily="34" charset="0"/>
                <a:ea typeface="Cambria" pitchFamily="34" charset="-122"/>
                <a:cs typeface="Cambria" pitchFamily="34" charset="-120"/>
              </a:rPr>
              <a:t>26</a:t>
            </a:r>
            <a:endParaRPr lang="en-US" sz="5600" dirty="0"/>
          </a:p>
        </p:txBody>
      </p:sp>
      <p:sp>
        <p:nvSpPr>
          <p:cNvPr id="14" name="Text 12"/>
          <p:cNvSpPr/>
          <p:nvPr/>
        </p:nvSpPr>
        <p:spPr>
          <a:xfrm>
            <a:off x="8884768" y="3630168"/>
            <a:ext cx="2651760" cy="365760"/>
          </a:xfrm>
          <a:prstGeom prst="rect">
            <a:avLst/>
          </a:prstGeom>
          <a:noFill/>
          <a:ln/>
        </p:spPr>
        <p:txBody>
          <a:bodyPr wrap="square" rtlCol="0" anchor="ctr"/>
          <a:lstStyle/>
          <a:p>
            <a:pPr algn="ctr" indent="0" marL="0">
              <a:buNone/>
            </a:pPr>
            <a:r>
              <a:rPr lang="en-US" sz="1200" dirty="0">
                <a:solidFill>
                  <a:srgbClr val="CADCFC"/>
                </a:solidFill>
                <a:latin typeface="Calibri" pitchFamily="34" charset="0"/>
                <a:ea typeface="Calibri" pitchFamily="34" charset="-122"/>
                <a:cs typeface="Calibri" pitchFamily="34" charset="-120"/>
              </a:rPr>
              <a:t>U4 — + V01</a:t>
            </a:r>
            <a:endParaRPr lang="en-US" sz="1200" dirty="0"/>
          </a:p>
        </p:txBody>
      </p:sp>
      <p:sp>
        <p:nvSpPr>
          <p:cNvPr id="15" name="Shape 13"/>
          <p:cNvSpPr/>
          <p:nvPr/>
        </p:nvSpPr>
        <p:spPr>
          <a:xfrm>
            <a:off x="548640" y="4892040"/>
            <a:ext cx="11094415" cy="1234440"/>
          </a:xfrm>
          <a:prstGeom prst="roundRect">
            <a:avLst>
              <a:gd name="adj" fmla="val 5926"/>
            </a:avLst>
          </a:prstGeom>
          <a:solidFill>
            <a:srgbClr val="1A2354"/>
          </a:solidFill>
          <a:ln/>
        </p:spPr>
      </p:sp>
      <p:sp>
        <p:nvSpPr>
          <p:cNvPr id="16" name="Shape 14"/>
          <p:cNvSpPr/>
          <p:nvPr/>
        </p:nvSpPr>
        <p:spPr>
          <a:xfrm>
            <a:off x="845820" y="5207508"/>
            <a:ext cx="594360" cy="594360"/>
          </a:xfrm>
          <a:prstGeom prst="ellipse">
            <a:avLst/>
          </a:prstGeom>
          <a:solidFill>
            <a:srgbClr val="1C7293"/>
          </a:solidFill>
          <a:ln/>
        </p:spPr>
      </p:sp>
      <p:pic>
        <p:nvPicPr>
          <p:cNvPr id="17" name="Image 0" descr="E:\_tmp_pptx_build\icons\activity.png">    </p:cNvPr>
          <p:cNvPicPr>
            <a:picLocks noChangeAspect="1"/>
          </p:cNvPicPr>
          <p:nvPr/>
        </p:nvPicPr>
        <p:blipFill>
          <a:blip r:embed="rId1"/>
          <a:stretch>
            <a:fillRect/>
          </a:stretch>
        </p:blipFill>
        <p:spPr>
          <a:xfrm>
            <a:off x="1000354" y="5362042"/>
            <a:ext cx="285293" cy="285293"/>
          </a:xfrm>
          <a:prstGeom prst="rect">
            <a:avLst/>
          </a:prstGeom>
        </p:spPr>
      </p:pic>
      <p:sp>
        <p:nvSpPr>
          <p:cNvPr id="18" name="Text 15"/>
          <p:cNvSpPr/>
          <p:nvPr/>
        </p:nvSpPr>
        <p:spPr>
          <a:xfrm>
            <a:off x="1600200" y="5029200"/>
            <a:ext cx="9768535" cy="960120"/>
          </a:xfrm>
          <a:prstGeom prst="rect">
            <a:avLst/>
          </a:prstGeom>
          <a:noFill/>
          <a:ln/>
        </p:spPr>
        <p:txBody>
          <a:bodyPr wrap="square" rtlCol="0" anchor="ctr"/>
          <a:lstStyle/>
          <a:p>
            <a:pPr indent="0" marL="0">
              <a:lnSpc>
                <a:spcPct val="120000"/>
              </a:lnSpc>
              <a:buNone/>
            </a:pPr>
            <a:r>
              <a:rPr lang="en-US" sz="1250" dirty="0">
                <a:solidFill>
                  <a:srgbClr val="E6EEF5"/>
                </a:solidFill>
                <a:latin typeface="Calibri" pitchFamily="34" charset="0"/>
                <a:ea typeface="Calibri" pitchFamily="34" charset="-122"/>
                <a:cs typeface="Calibri" pitchFamily="34" charset="-120"/>
              </a:rPr>
              <a:t>Snapshot antrean nyata saat worker mati (U2): ready = 5, unacked = 0, consumers = 0 — dibaca langsung dari RabbitMQ Management API, bukan asumsi.</a:t>
            </a:r>
            <a:endParaRPr lang="en-US" sz="1250" dirty="0"/>
          </a:p>
        </p:txBody>
      </p:sp>
      <p:sp>
        <p:nvSpPr>
          <p:cNvPr id="19" name="Text 16"/>
          <p:cNvSpPr/>
          <p:nvPr/>
        </p:nvSpPr>
        <p:spPr>
          <a:xfrm>
            <a:off x="10728655" y="6400800"/>
            <a:ext cx="1097280" cy="274320"/>
          </a:xfrm>
          <a:prstGeom prst="rect">
            <a:avLst/>
          </a:prstGeom>
          <a:noFill/>
          <a:ln/>
        </p:spPr>
        <p:txBody>
          <a:bodyPr wrap="square" rtlCol="0" anchor="ctr"/>
          <a:lstStyle/>
          <a:p>
            <a:pPr algn="r" indent="0" marL="0">
              <a:buNone/>
            </a:pPr>
            <a:r>
              <a:rPr lang="en-US" sz="900" dirty="0">
                <a:solidFill>
                  <a:srgbClr val="9AA7CC"/>
                </a:solidFill>
                <a:latin typeface="Calibri" pitchFamily="34" charset="0"/>
                <a:ea typeface="Calibri" pitchFamily="34" charset="-122"/>
                <a:cs typeface="Calibri" pitchFamily="34" charset="-120"/>
              </a:rPr>
              <a:t>08 / 12</a:t>
            </a:r>
            <a:endParaRPr lang="en-US" sz="900" dirty="0"/>
          </a:p>
        </p:txBody>
      </p:sp>
      <p:sp>
        <p:nvSpPr>
          <p:cNvPr id="20" name="Text 17"/>
          <p:cNvSpPr/>
          <p:nvPr/>
        </p:nvSpPr>
        <p:spPr>
          <a:xfrm>
            <a:off x="548640" y="6400800"/>
            <a:ext cx="3657600" cy="274320"/>
          </a:xfrm>
          <a:prstGeom prst="rect">
            <a:avLst/>
          </a:prstGeom>
          <a:noFill/>
          <a:ln/>
        </p:spPr>
        <p:txBody>
          <a:bodyPr wrap="square" rtlCol="0" anchor="ctr"/>
          <a:lstStyle/>
          <a:p>
            <a:pPr indent="0" marL="0">
              <a:buNone/>
            </a:pPr>
            <a:r>
              <a:rPr lang="en-US" sz="900" dirty="0">
                <a:solidFill>
                  <a:srgbClr val="9AA7CC"/>
                </a:solidFill>
                <a:latin typeface="Calibri" pitchFamily="34" charset="0"/>
                <a:ea typeface="Calibri" pitchFamily="34" charset="-122"/>
                <a:cs typeface="Calibri" pitchFamily="34" charset="-120"/>
              </a:rPr>
              <a:t>A04-W · Pengolahan Berkas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rtlCol="0" anchor="ctr"/>
          <a:lstStyle/>
          <a:p>
            <a:pPr algn="l" indent="0" marL="0">
              <a:buNone/>
            </a:pPr>
            <a:r>
              <a:rPr lang="en-US" sz="1200" b="1" spc="200" kern="0" dirty="0">
                <a:solidFill>
                  <a:srgbClr val="1C7293"/>
                </a:solidFill>
                <a:latin typeface="Calibri" pitchFamily="34" charset="0"/>
                <a:ea typeface="Calibri" pitchFamily="34" charset="-122"/>
                <a:cs typeface="Calibri" pitchFamily="34" charset="-120"/>
              </a:rPr>
              <a:t>05 · INSIDEN &amp; INVESTIGASI</a:t>
            </a:r>
            <a:endParaRPr lang="en-US" sz="1200" dirty="0"/>
          </a:p>
        </p:txBody>
      </p:sp>
      <p:sp>
        <p:nvSpPr>
          <p:cNvPr id="3" name="Text 1"/>
          <p:cNvSpPr/>
          <p:nvPr/>
        </p:nvSpPr>
        <p:spPr>
          <a:xfrm>
            <a:off x="548640" y="658368"/>
            <a:ext cx="11094415" cy="777240"/>
          </a:xfrm>
          <a:prstGeom prst="rect">
            <a:avLst/>
          </a:prstGeom>
          <a:noFill/>
          <a:ln/>
        </p:spPr>
        <p:txBody>
          <a:bodyPr wrap="square" rtlCol="0" anchor="ctr"/>
          <a:lstStyle/>
          <a:p>
            <a:pPr algn="l" indent="0" marL="0">
              <a:buNone/>
            </a:pPr>
            <a:r>
              <a:rPr lang="en-US" sz="3200" b="1" dirty="0">
                <a:solidFill>
                  <a:srgbClr val="1B2733"/>
                </a:solidFill>
                <a:latin typeface="Cambria" pitchFamily="34" charset="0"/>
                <a:ea typeface="Cambria" pitchFamily="34" charset="-122"/>
                <a:cs typeface="Cambria" pitchFamily="34" charset="-120"/>
              </a:rPr>
              <a:t>Kenapa worker “tidak benar-benar berhenti” saat U2?</a:t>
            </a:r>
            <a:endParaRPr lang="en-US" sz="3200" dirty="0"/>
          </a:p>
        </p:txBody>
      </p:sp>
      <p:sp>
        <p:nvSpPr>
          <p:cNvPr id="4" name="Shape 2"/>
          <p:cNvSpPr/>
          <p:nvPr/>
        </p:nvSpPr>
        <p:spPr>
          <a:xfrm>
            <a:off x="571500" y="1805940"/>
            <a:ext cx="685800" cy="685800"/>
          </a:xfrm>
          <a:prstGeom prst="ellipse">
            <a:avLst/>
          </a:prstGeom>
          <a:solidFill>
            <a:srgbClr val="B3423A"/>
          </a:solidFill>
          <a:ln/>
        </p:spPr>
      </p:sp>
      <p:pic>
        <p:nvPicPr>
          <p:cNvPr id="5" name="Image 0" descr="E:\_tmp_pptx_build\icons\alert.png">    </p:cNvPr>
          <p:cNvPicPr>
            <a:picLocks noChangeAspect="1"/>
          </p:cNvPicPr>
          <p:nvPr/>
        </p:nvPicPr>
        <p:blipFill>
          <a:blip r:embed="rId1"/>
          <a:stretch>
            <a:fillRect/>
          </a:stretch>
        </p:blipFill>
        <p:spPr>
          <a:xfrm>
            <a:off x="749808" y="1984248"/>
            <a:ext cx="329184" cy="329184"/>
          </a:xfrm>
          <a:prstGeom prst="rect">
            <a:avLst/>
          </a:prstGeom>
        </p:spPr>
      </p:pic>
      <p:sp>
        <p:nvSpPr>
          <p:cNvPr id="6" name="Text 3"/>
          <p:cNvSpPr/>
          <p:nvPr/>
        </p:nvSpPr>
        <p:spPr>
          <a:xfrm>
            <a:off x="1417320" y="1783080"/>
            <a:ext cx="1920240" cy="731520"/>
          </a:xfrm>
          <a:prstGeom prst="rect">
            <a:avLst/>
          </a:prstGeom>
          <a:noFill/>
          <a:ln/>
        </p:spPr>
        <p:txBody>
          <a:bodyPr wrap="square" rtlCol="0" anchor="ctr"/>
          <a:lstStyle/>
          <a:p>
            <a:pPr indent="0" marL="0">
              <a:buNone/>
            </a:pPr>
            <a:r>
              <a:rPr lang="en-US" sz="1350" b="1" dirty="0">
                <a:solidFill>
                  <a:srgbClr val="1B2733"/>
                </a:solidFill>
                <a:latin typeface="Calibri" pitchFamily="34" charset="0"/>
                <a:ea typeface="Calibri" pitchFamily="34" charset="-122"/>
                <a:cs typeface="Calibri" pitchFamily="34" charset="-120"/>
              </a:rPr>
              <a:t>Gejala</a:t>
            </a:r>
            <a:endParaRPr lang="en-US" sz="1350" dirty="0"/>
          </a:p>
        </p:txBody>
      </p:sp>
      <p:sp>
        <p:nvSpPr>
          <p:cNvPr id="7" name="Text 4"/>
          <p:cNvSpPr/>
          <p:nvPr/>
        </p:nvSpPr>
        <p:spPr>
          <a:xfrm>
            <a:off x="3429000" y="1783080"/>
            <a:ext cx="8396935" cy="731520"/>
          </a:xfrm>
          <a:prstGeom prst="rect">
            <a:avLst/>
          </a:prstGeom>
          <a:noFill/>
          <a:ln/>
        </p:spPr>
        <p:txBody>
          <a:bodyPr wrap="square" rtlCol="0" anchor="ctr"/>
          <a:lstStyle/>
          <a:p>
            <a:pPr indent="0" marL="0">
              <a:lnSpc>
                <a:spcPct val="115000"/>
              </a:lnSpc>
              <a:buNone/>
            </a:pPr>
            <a:r>
              <a:rPr lang="en-US" sz="1100" dirty="0">
                <a:solidFill>
                  <a:srgbClr val="5B6B78"/>
                </a:solidFill>
                <a:latin typeface="Calibri" pitchFamily="34" charset="0"/>
                <a:ea typeface="Calibri" pitchFamily="34" charset="-122"/>
                <a:cs typeface="Calibri" pitchFamily="34" charset="-120"/>
              </a:rPr>
              <a:t>Setelah kill -SIGINT dari Git Bash (MSYS), snapshot queue menunjukkan ready:0, consumers:1 — bukan ready:5, consumers:0 seperti diharapkan. Log worker mengonfirmasi 5 event tetap diproses.</a:t>
            </a:r>
            <a:endParaRPr lang="en-US" sz="1100" dirty="0"/>
          </a:p>
        </p:txBody>
      </p:sp>
      <p:sp>
        <p:nvSpPr>
          <p:cNvPr id="8" name="Shape 5"/>
          <p:cNvSpPr/>
          <p:nvPr/>
        </p:nvSpPr>
        <p:spPr>
          <a:xfrm>
            <a:off x="571500" y="2738628"/>
            <a:ext cx="685800" cy="685800"/>
          </a:xfrm>
          <a:prstGeom prst="ellipse">
            <a:avLst/>
          </a:prstGeom>
          <a:solidFill>
            <a:srgbClr val="1C7293"/>
          </a:solidFill>
          <a:ln/>
        </p:spPr>
      </p:sp>
      <p:pic>
        <p:nvPicPr>
          <p:cNvPr id="9" name="Image 1" descr="E:\_tmp_pptx_build\icons\search.png">    </p:cNvPr>
          <p:cNvPicPr>
            <a:picLocks noChangeAspect="1"/>
          </p:cNvPicPr>
          <p:nvPr/>
        </p:nvPicPr>
        <p:blipFill>
          <a:blip r:embed="rId2"/>
          <a:stretch>
            <a:fillRect/>
          </a:stretch>
        </p:blipFill>
        <p:spPr>
          <a:xfrm>
            <a:off x="749808" y="2916936"/>
            <a:ext cx="329184" cy="329184"/>
          </a:xfrm>
          <a:prstGeom prst="rect">
            <a:avLst/>
          </a:prstGeom>
        </p:spPr>
      </p:pic>
      <p:sp>
        <p:nvSpPr>
          <p:cNvPr id="10" name="Text 6"/>
          <p:cNvSpPr/>
          <p:nvPr/>
        </p:nvSpPr>
        <p:spPr>
          <a:xfrm>
            <a:off x="1417320" y="2715768"/>
            <a:ext cx="1920240" cy="731520"/>
          </a:xfrm>
          <a:prstGeom prst="rect">
            <a:avLst/>
          </a:prstGeom>
          <a:noFill/>
          <a:ln/>
        </p:spPr>
        <p:txBody>
          <a:bodyPr wrap="square" rtlCol="0" anchor="ctr"/>
          <a:lstStyle/>
          <a:p>
            <a:pPr indent="0" marL="0">
              <a:buNone/>
            </a:pPr>
            <a:r>
              <a:rPr lang="en-US" sz="1350" b="1" dirty="0">
                <a:solidFill>
                  <a:srgbClr val="1B2733"/>
                </a:solidFill>
                <a:latin typeface="Calibri" pitchFamily="34" charset="0"/>
                <a:ea typeface="Calibri" pitchFamily="34" charset="-122"/>
                <a:cs typeface="Calibri" pitchFamily="34" charset="-120"/>
              </a:rPr>
              <a:t>Dua hipotesis</a:t>
            </a:r>
            <a:endParaRPr lang="en-US" sz="1350" dirty="0"/>
          </a:p>
        </p:txBody>
      </p:sp>
      <p:sp>
        <p:nvSpPr>
          <p:cNvPr id="11" name="Text 7"/>
          <p:cNvSpPr/>
          <p:nvPr/>
        </p:nvSpPr>
        <p:spPr>
          <a:xfrm>
            <a:off x="3429000" y="2715768"/>
            <a:ext cx="8396935" cy="731520"/>
          </a:xfrm>
          <a:prstGeom prst="rect">
            <a:avLst/>
          </a:prstGeom>
          <a:noFill/>
          <a:ln/>
        </p:spPr>
        <p:txBody>
          <a:bodyPr wrap="square" rtlCol="0" anchor="ctr"/>
          <a:lstStyle/>
          <a:p>
            <a:pPr indent="0" marL="0">
              <a:lnSpc>
                <a:spcPct val="115000"/>
              </a:lnSpc>
              <a:buNone/>
            </a:pPr>
            <a:r>
              <a:rPr lang="en-US" sz="1100" dirty="0">
                <a:solidFill>
                  <a:srgbClr val="5B6B78"/>
                </a:solidFill>
                <a:latin typeface="Calibri" pitchFamily="34" charset="0"/>
                <a:ea typeface="Calibri" pitchFamily="34" charset="-122"/>
                <a:cs typeface="Calibri" pitchFamily="34" charset="-120"/>
              </a:rPr>
              <a:t>(1) SIGINT tidak sampai ke worker di Windows/Git Bash. (2) PID yang di-kill salah — WINPID dari ps aux MSYS tidak sinkron dengan PID node.exe sesungguhnya.</a:t>
            </a:r>
            <a:endParaRPr lang="en-US" sz="1100" dirty="0"/>
          </a:p>
        </p:txBody>
      </p:sp>
      <p:sp>
        <p:nvSpPr>
          <p:cNvPr id="12" name="Shape 8"/>
          <p:cNvSpPr/>
          <p:nvPr/>
        </p:nvSpPr>
        <p:spPr>
          <a:xfrm>
            <a:off x="571500" y="3671316"/>
            <a:ext cx="685800" cy="685800"/>
          </a:xfrm>
          <a:prstGeom prst="ellipse">
            <a:avLst/>
          </a:prstGeom>
          <a:solidFill>
            <a:srgbClr val="065A82"/>
          </a:solidFill>
          <a:ln/>
        </p:spPr>
      </p:sp>
      <p:pic>
        <p:nvPicPr>
          <p:cNvPr id="13" name="Image 2" descr="E:\_tmp_pptx_build\icons\target.png">    </p:cNvPr>
          <p:cNvPicPr>
            <a:picLocks noChangeAspect="1"/>
          </p:cNvPicPr>
          <p:nvPr/>
        </p:nvPicPr>
        <p:blipFill>
          <a:blip r:embed="rId3"/>
          <a:stretch>
            <a:fillRect/>
          </a:stretch>
        </p:blipFill>
        <p:spPr>
          <a:xfrm>
            <a:off x="749808" y="3849624"/>
            <a:ext cx="329184" cy="329184"/>
          </a:xfrm>
          <a:prstGeom prst="rect">
            <a:avLst/>
          </a:prstGeom>
        </p:spPr>
      </p:pic>
      <p:sp>
        <p:nvSpPr>
          <p:cNvPr id="14" name="Text 9"/>
          <p:cNvSpPr/>
          <p:nvPr/>
        </p:nvSpPr>
        <p:spPr>
          <a:xfrm>
            <a:off x="1417320" y="3648456"/>
            <a:ext cx="1920240" cy="731520"/>
          </a:xfrm>
          <a:prstGeom prst="rect">
            <a:avLst/>
          </a:prstGeom>
          <a:noFill/>
          <a:ln/>
        </p:spPr>
        <p:txBody>
          <a:bodyPr wrap="square" rtlCol="0" anchor="ctr"/>
          <a:lstStyle/>
          <a:p>
            <a:pPr indent="0" marL="0">
              <a:buNone/>
            </a:pPr>
            <a:r>
              <a:rPr lang="en-US" sz="1350" b="1" dirty="0">
                <a:solidFill>
                  <a:srgbClr val="1B2733"/>
                </a:solidFill>
                <a:latin typeface="Calibri" pitchFamily="34" charset="0"/>
                <a:ea typeface="Calibri" pitchFamily="34" charset="-122"/>
                <a:cs typeface="Calibri" pitchFamily="34" charset="-120"/>
              </a:rPr>
              <a:t>Pembuktian</a:t>
            </a:r>
            <a:endParaRPr lang="en-US" sz="1350" dirty="0"/>
          </a:p>
        </p:txBody>
      </p:sp>
      <p:sp>
        <p:nvSpPr>
          <p:cNvPr id="15" name="Text 10"/>
          <p:cNvSpPr/>
          <p:nvPr/>
        </p:nvSpPr>
        <p:spPr>
          <a:xfrm>
            <a:off x="3429000" y="3648456"/>
            <a:ext cx="8396935" cy="731520"/>
          </a:xfrm>
          <a:prstGeom prst="rect">
            <a:avLst/>
          </a:prstGeom>
          <a:noFill/>
          <a:ln/>
        </p:spPr>
        <p:txBody>
          <a:bodyPr wrap="square" rtlCol="0" anchor="ctr"/>
          <a:lstStyle/>
          <a:p>
            <a:pPr indent="0" marL="0">
              <a:lnSpc>
                <a:spcPct val="115000"/>
              </a:lnSpc>
              <a:buNone/>
            </a:pPr>
            <a:r>
              <a:rPr lang="en-US" sz="1100" dirty="0">
                <a:solidFill>
                  <a:srgbClr val="5B6B78"/>
                </a:solidFill>
                <a:latin typeface="Calibri" pitchFamily="34" charset="0"/>
                <a:ea typeface="Calibri" pitchFamily="34" charset="-122"/>
                <a:cs typeface="Calibri" pitchFamily="34" charset="-120"/>
              </a:rPr>
              <a:t>tasklist //FI "IMAGENAME eq node.exe" menunjukkan node.exe PID 17836 (cocok workerId log) masih berjalan, sedangkan kill memakai PID 27860 (WINPID) — hipotesis 2 terkonfirmasi.</a:t>
            </a:r>
            <a:endParaRPr lang="en-US" sz="1100" dirty="0"/>
          </a:p>
        </p:txBody>
      </p:sp>
      <p:sp>
        <p:nvSpPr>
          <p:cNvPr id="16" name="Shape 11"/>
          <p:cNvSpPr/>
          <p:nvPr/>
        </p:nvSpPr>
        <p:spPr>
          <a:xfrm>
            <a:off x="571500" y="4604004"/>
            <a:ext cx="685800" cy="685800"/>
          </a:xfrm>
          <a:prstGeom prst="ellipse">
            <a:avLst/>
          </a:prstGeom>
          <a:solidFill>
            <a:srgbClr val="1E8E5A"/>
          </a:solidFill>
          <a:ln/>
        </p:spPr>
      </p:sp>
      <p:pic>
        <p:nvPicPr>
          <p:cNvPr id="17" name="Image 3" descr="E:\_tmp_pptx_build\icons\tool.png">    </p:cNvPr>
          <p:cNvPicPr>
            <a:picLocks noChangeAspect="1"/>
          </p:cNvPicPr>
          <p:nvPr/>
        </p:nvPicPr>
        <p:blipFill>
          <a:blip r:embed="rId4"/>
          <a:stretch>
            <a:fillRect/>
          </a:stretch>
        </p:blipFill>
        <p:spPr>
          <a:xfrm>
            <a:off x="749808" y="4782312"/>
            <a:ext cx="329184" cy="329184"/>
          </a:xfrm>
          <a:prstGeom prst="rect">
            <a:avLst/>
          </a:prstGeom>
        </p:spPr>
      </p:pic>
      <p:sp>
        <p:nvSpPr>
          <p:cNvPr id="18" name="Text 12"/>
          <p:cNvSpPr/>
          <p:nvPr/>
        </p:nvSpPr>
        <p:spPr>
          <a:xfrm>
            <a:off x="1417320" y="4581144"/>
            <a:ext cx="1920240" cy="731520"/>
          </a:xfrm>
          <a:prstGeom prst="rect">
            <a:avLst/>
          </a:prstGeom>
          <a:noFill/>
          <a:ln/>
        </p:spPr>
        <p:txBody>
          <a:bodyPr wrap="square" rtlCol="0" anchor="ctr"/>
          <a:lstStyle/>
          <a:p>
            <a:pPr indent="0" marL="0">
              <a:buNone/>
            </a:pPr>
            <a:r>
              <a:rPr lang="en-US" sz="1350" b="1" dirty="0">
                <a:solidFill>
                  <a:srgbClr val="1B2733"/>
                </a:solidFill>
                <a:latin typeface="Calibri" pitchFamily="34" charset="0"/>
                <a:ea typeface="Calibri" pitchFamily="34" charset="-122"/>
                <a:cs typeface="Calibri" pitchFamily="34" charset="-120"/>
              </a:rPr>
              <a:t>Solusi</a:t>
            </a:r>
            <a:endParaRPr lang="en-US" sz="1350" dirty="0"/>
          </a:p>
        </p:txBody>
      </p:sp>
      <p:sp>
        <p:nvSpPr>
          <p:cNvPr id="19" name="Text 13"/>
          <p:cNvSpPr/>
          <p:nvPr/>
        </p:nvSpPr>
        <p:spPr>
          <a:xfrm>
            <a:off x="3429000" y="4581144"/>
            <a:ext cx="8396935" cy="731520"/>
          </a:xfrm>
          <a:prstGeom prst="rect">
            <a:avLst/>
          </a:prstGeom>
          <a:noFill/>
          <a:ln/>
        </p:spPr>
        <p:txBody>
          <a:bodyPr wrap="square" rtlCol="0" anchor="ctr"/>
          <a:lstStyle/>
          <a:p>
            <a:pPr indent="0" marL="0">
              <a:lnSpc>
                <a:spcPct val="115000"/>
              </a:lnSpc>
              <a:buNone/>
            </a:pPr>
            <a:r>
              <a:rPr lang="en-US" sz="1100" dirty="0">
                <a:solidFill>
                  <a:srgbClr val="5B6B78"/>
                </a:solidFill>
                <a:latin typeface="Calibri" pitchFamily="34" charset="0"/>
                <a:ea typeface="Calibri" pitchFamily="34" charset="-122"/>
                <a:cs typeface="Calibri" pitchFamily="34" charset="-120"/>
              </a:rPr>
              <a:t>Ganti ke tasklist untuk PID Windows asli → taskkill //F //PID &lt;pid benar&gt;. Sekaligus lebih representatif untuk skenario “crash mendadak” yang ingin dibuktikan U2.</a:t>
            </a:r>
            <a:endParaRPr lang="en-US" sz="1100" dirty="0"/>
          </a:p>
        </p:txBody>
      </p:sp>
      <p:sp>
        <p:nvSpPr>
          <p:cNvPr id="20" name="Shape 14"/>
          <p:cNvSpPr/>
          <p:nvPr/>
        </p:nvSpPr>
        <p:spPr>
          <a:xfrm>
            <a:off x="548640" y="5559552"/>
            <a:ext cx="11094415" cy="685800"/>
          </a:xfrm>
          <a:prstGeom prst="roundRect">
            <a:avLst>
              <a:gd name="adj" fmla="val 10667"/>
            </a:avLst>
          </a:prstGeom>
          <a:solidFill>
            <a:srgbClr val="F4F7FA"/>
          </a:solidFill>
          <a:ln/>
        </p:spPr>
      </p:sp>
      <p:sp>
        <p:nvSpPr>
          <p:cNvPr id="21" name="Text 15"/>
          <p:cNvSpPr/>
          <p:nvPr/>
        </p:nvSpPr>
        <p:spPr>
          <a:xfrm>
            <a:off x="822960" y="5559552"/>
            <a:ext cx="10545775" cy="685800"/>
          </a:xfrm>
          <a:prstGeom prst="rect">
            <a:avLst/>
          </a:prstGeom>
          <a:noFill/>
          <a:ln/>
        </p:spPr>
        <p:txBody>
          <a:bodyPr wrap="square" rtlCol="0" anchor="ctr"/>
          <a:lstStyle/>
          <a:p>
            <a:pPr indent="0" marL="0">
              <a:buNone/>
            </a:pPr>
            <a:r>
              <a:rPr lang="en-US" sz="1100" i="1" dirty="0">
                <a:solidFill>
                  <a:srgbClr val="065A82"/>
                </a:solidFill>
                <a:latin typeface="Calibri" pitchFamily="34" charset="0"/>
                <a:ea typeface="Calibri" pitchFamily="34" charset="-122"/>
                <a:cs typeface="Calibri" pitchFamily="34" charset="-120"/>
              </a:rPr>
              <a:t>Hasil akhir: sistem berfungsi normal sesuai desain — masalah sepenuhnya pada cara menghentikan proses worker di Windows/Git Bash, bukan topologi atau kode consumer/producer.</a:t>
            </a:r>
            <a:endParaRPr lang="en-US" sz="1100" dirty="0"/>
          </a:p>
        </p:txBody>
      </p:sp>
      <p:sp>
        <p:nvSpPr>
          <p:cNvPr id="22" name="Text 16"/>
          <p:cNvSpPr/>
          <p:nvPr/>
        </p:nvSpPr>
        <p:spPr>
          <a:xfrm>
            <a:off x="10728655" y="6400800"/>
            <a:ext cx="1097280" cy="274320"/>
          </a:xfrm>
          <a:prstGeom prst="rect">
            <a:avLst/>
          </a:prstGeom>
          <a:noFill/>
          <a:ln/>
        </p:spPr>
        <p:txBody>
          <a:bodyPr wrap="square" rtlCol="0" anchor="ctr"/>
          <a:lstStyle/>
          <a:p>
            <a:pPr algn="r" indent="0" marL="0">
              <a:buNone/>
            </a:pPr>
            <a:r>
              <a:rPr lang="en-US" sz="900" dirty="0">
                <a:solidFill>
                  <a:srgbClr val="5B6B78"/>
                </a:solidFill>
                <a:latin typeface="Calibri" pitchFamily="34" charset="0"/>
                <a:ea typeface="Calibri" pitchFamily="34" charset="-122"/>
                <a:cs typeface="Calibri" pitchFamily="34" charset="-120"/>
              </a:rPr>
              <a:t>09 / 12</a:t>
            </a:r>
            <a:endParaRPr lang="en-US" sz="900" dirty="0"/>
          </a:p>
        </p:txBody>
      </p:sp>
      <p:sp>
        <p:nvSpPr>
          <p:cNvPr id="23" name="Text 17"/>
          <p:cNvSpPr/>
          <p:nvPr/>
        </p:nvSpPr>
        <p:spPr>
          <a:xfrm>
            <a:off x="548640" y="6400800"/>
            <a:ext cx="3657600" cy="274320"/>
          </a:xfrm>
          <a:prstGeom prst="rect">
            <a:avLst/>
          </a:prstGeom>
          <a:noFill/>
          <a:ln/>
        </p:spPr>
        <p:txBody>
          <a:bodyPr wrap="square" rtlCol="0" anchor="ctr"/>
          <a:lstStyle/>
          <a:p>
            <a:pPr indent="0" marL="0">
              <a:buNone/>
            </a:pPr>
            <a:r>
              <a:rPr lang="en-US" sz="900" dirty="0">
                <a:solidFill>
                  <a:srgbClr val="5B6B78"/>
                </a:solidFill>
                <a:latin typeface="Calibri" pitchFamily="34" charset="0"/>
                <a:ea typeface="Calibri" pitchFamily="34" charset="-122"/>
                <a:cs typeface="Calibri" pitchFamily="34" charset="-120"/>
              </a:rPr>
              <a:t>A04-W · Pengolahan Berkas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rtlCol="0" anchor="ctr"/>
          <a:lstStyle/>
          <a:p>
            <a:pPr algn="l" indent="0" marL="0">
              <a:buNone/>
            </a:pPr>
            <a:r>
              <a:rPr lang="en-US" sz="1200" b="1" spc="200" kern="0" dirty="0">
                <a:solidFill>
                  <a:srgbClr val="1C7293"/>
                </a:solidFill>
                <a:latin typeface="Calibri" pitchFamily="34" charset="0"/>
                <a:ea typeface="Calibri" pitchFamily="34" charset="-122"/>
                <a:cs typeface="Calibri" pitchFamily="34" charset="-120"/>
              </a:rPr>
              <a:t>06 · BATASAN &amp; PENGEMBANGAN LANJUT</a:t>
            </a:r>
            <a:endParaRPr lang="en-US" sz="1200" dirty="0"/>
          </a:p>
        </p:txBody>
      </p:sp>
      <p:sp>
        <p:nvSpPr>
          <p:cNvPr id="3" name="Text 1"/>
          <p:cNvSpPr/>
          <p:nvPr/>
        </p:nvSpPr>
        <p:spPr>
          <a:xfrm>
            <a:off x="548640" y="658368"/>
            <a:ext cx="11094415" cy="777240"/>
          </a:xfrm>
          <a:prstGeom prst="rect">
            <a:avLst/>
          </a:prstGeom>
          <a:noFill/>
          <a:ln/>
        </p:spPr>
        <p:txBody>
          <a:bodyPr wrap="square" rtlCol="0" anchor="ctr"/>
          <a:lstStyle/>
          <a:p>
            <a:pPr algn="l" indent="0" marL="0">
              <a:buNone/>
            </a:pPr>
            <a:r>
              <a:rPr lang="en-US" sz="3200" b="1" dirty="0">
                <a:solidFill>
                  <a:srgbClr val="1B2733"/>
                </a:solidFill>
                <a:latin typeface="Cambria" pitchFamily="34" charset="0"/>
                <a:ea typeface="Cambria" pitchFamily="34" charset="-122"/>
                <a:cs typeface="Cambria" pitchFamily="34" charset="-120"/>
              </a:rPr>
              <a:t>Batas prototipe yang jujur, dan arah pengembangan berikutnya</a:t>
            </a:r>
            <a:endParaRPr lang="en-US" sz="3200" dirty="0"/>
          </a:p>
        </p:txBody>
      </p:sp>
      <p:sp>
        <p:nvSpPr>
          <p:cNvPr id="4" name="Shape 2"/>
          <p:cNvSpPr/>
          <p:nvPr/>
        </p:nvSpPr>
        <p:spPr>
          <a:xfrm>
            <a:off x="548640" y="1737360"/>
            <a:ext cx="5440680" cy="4434840"/>
          </a:xfrm>
          <a:prstGeom prst="roundRect">
            <a:avLst>
              <a:gd name="adj" fmla="val 1649"/>
            </a:avLst>
          </a:prstGeom>
          <a:solidFill>
            <a:srgbClr val="F4F7FA"/>
          </a:solidFill>
          <a:ln/>
        </p:spPr>
      </p:sp>
      <p:sp>
        <p:nvSpPr>
          <p:cNvPr id="5" name="Text 3"/>
          <p:cNvSpPr/>
          <p:nvPr/>
        </p:nvSpPr>
        <p:spPr>
          <a:xfrm>
            <a:off x="822960" y="1920240"/>
            <a:ext cx="4892040" cy="365760"/>
          </a:xfrm>
          <a:prstGeom prst="rect">
            <a:avLst/>
          </a:prstGeom>
          <a:noFill/>
          <a:ln/>
        </p:spPr>
        <p:txBody>
          <a:bodyPr wrap="square" rtlCol="0" anchor="ctr"/>
          <a:lstStyle/>
          <a:p>
            <a:pPr indent="0" marL="0">
              <a:buNone/>
            </a:pPr>
            <a:r>
              <a:rPr lang="en-US" sz="1500" b="1" dirty="0">
                <a:solidFill>
                  <a:srgbClr val="1B2733"/>
                </a:solidFill>
                <a:latin typeface="Calibri" pitchFamily="34" charset="0"/>
                <a:ea typeface="Calibri" pitchFamily="34" charset="-122"/>
                <a:cs typeface="Calibri" pitchFamily="34" charset="-120"/>
              </a:rPr>
              <a:t>Batasan Saat Ini</a:t>
            </a:r>
            <a:endParaRPr lang="en-US" sz="1500" dirty="0"/>
          </a:p>
        </p:txBody>
      </p:sp>
      <p:sp>
        <p:nvSpPr>
          <p:cNvPr id="6" name="Shape 4"/>
          <p:cNvSpPr/>
          <p:nvPr/>
        </p:nvSpPr>
        <p:spPr>
          <a:xfrm>
            <a:off x="822960" y="2441448"/>
            <a:ext cx="365760" cy="365760"/>
          </a:xfrm>
          <a:prstGeom prst="ellipse">
            <a:avLst/>
          </a:prstGeom>
          <a:solidFill>
            <a:srgbClr val="5B6B78"/>
          </a:solidFill>
          <a:ln/>
        </p:spPr>
      </p:sp>
      <p:pic>
        <p:nvPicPr>
          <p:cNvPr id="7" name="Image 0" descr="E:\_tmp_pptx_build\icons\xcircle.png">    </p:cNvPr>
          <p:cNvPicPr>
            <a:picLocks noChangeAspect="1"/>
          </p:cNvPicPr>
          <p:nvPr/>
        </p:nvPicPr>
        <p:blipFill>
          <a:blip r:embed="rId1"/>
          <a:stretch>
            <a:fillRect/>
          </a:stretch>
        </p:blipFill>
        <p:spPr>
          <a:xfrm>
            <a:off x="918058" y="2536546"/>
            <a:ext cx="175565" cy="175565"/>
          </a:xfrm>
          <a:prstGeom prst="rect">
            <a:avLst/>
          </a:prstGeom>
        </p:spPr>
      </p:pic>
      <p:sp>
        <p:nvSpPr>
          <p:cNvPr id="8" name="Text 5"/>
          <p:cNvSpPr/>
          <p:nvPr/>
        </p:nvSpPr>
        <p:spPr>
          <a:xfrm>
            <a:off x="1325880" y="2423160"/>
            <a:ext cx="4389120" cy="502920"/>
          </a:xfrm>
          <a:prstGeom prst="rect">
            <a:avLst/>
          </a:prstGeom>
          <a:noFill/>
          <a:ln/>
        </p:spPr>
        <p:txBody>
          <a:bodyPr wrap="square" rtlCol="0" anchor="ctr"/>
          <a:lstStyle/>
          <a:p>
            <a:pPr indent="0" marL="0">
              <a:lnSpc>
                <a:spcPct val="110000"/>
              </a:lnSpc>
              <a:buNone/>
            </a:pPr>
            <a:r>
              <a:rPr lang="en-US" sz="1100" dirty="0">
                <a:solidFill>
                  <a:srgbClr val="1B2733"/>
                </a:solidFill>
                <a:latin typeface="Calibri" pitchFamily="34" charset="0"/>
                <a:ea typeface="Calibri" pitchFamily="34" charset="-122"/>
                <a:cs typeface="Calibri" pitchFamily="34" charset="-120"/>
              </a:rPr>
              <a:t>Satu worker (kompatibel &gt;1 consumer, belum diuji paralel)</a:t>
            </a:r>
            <a:endParaRPr lang="en-US" sz="1100" dirty="0"/>
          </a:p>
        </p:txBody>
      </p:sp>
      <p:sp>
        <p:nvSpPr>
          <p:cNvPr id="9" name="Shape 6"/>
          <p:cNvSpPr/>
          <p:nvPr/>
        </p:nvSpPr>
        <p:spPr>
          <a:xfrm>
            <a:off x="822960" y="3008376"/>
            <a:ext cx="365760" cy="365760"/>
          </a:xfrm>
          <a:prstGeom prst="ellipse">
            <a:avLst/>
          </a:prstGeom>
          <a:solidFill>
            <a:srgbClr val="5B6B78"/>
          </a:solidFill>
          <a:ln/>
        </p:spPr>
      </p:sp>
      <p:pic>
        <p:nvPicPr>
          <p:cNvPr id="10" name="Image 1" descr="E:\_tmp_pptx_build\icons\xcircle.png">    </p:cNvPr>
          <p:cNvPicPr>
            <a:picLocks noChangeAspect="1"/>
          </p:cNvPicPr>
          <p:nvPr/>
        </p:nvPicPr>
        <p:blipFill>
          <a:blip r:embed="rId2"/>
          <a:stretch>
            <a:fillRect/>
          </a:stretch>
        </p:blipFill>
        <p:spPr>
          <a:xfrm>
            <a:off x="918058" y="3103474"/>
            <a:ext cx="175565" cy="175565"/>
          </a:xfrm>
          <a:prstGeom prst="rect">
            <a:avLst/>
          </a:prstGeom>
        </p:spPr>
      </p:pic>
      <p:sp>
        <p:nvSpPr>
          <p:cNvPr id="11" name="Text 7"/>
          <p:cNvSpPr/>
          <p:nvPr/>
        </p:nvSpPr>
        <p:spPr>
          <a:xfrm>
            <a:off x="1325880" y="2990088"/>
            <a:ext cx="4389120" cy="502920"/>
          </a:xfrm>
          <a:prstGeom prst="rect">
            <a:avLst/>
          </a:prstGeom>
          <a:noFill/>
          <a:ln/>
        </p:spPr>
        <p:txBody>
          <a:bodyPr wrap="square" rtlCol="0" anchor="ctr"/>
          <a:lstStyle/>
          <a:p>
            <a:pPr indent="0" marL="0">
              <a:lnSpc>
                <a:spcPct val="110000"/>
              </a:lnSpc>
              <a:buNone/>
            </a:pPr>
            <a:r>
              <a:rPr lang="en-US" sz="1100" dirty="0">
                <a:solidFill>
                  <a:srgbClr val="1B2733"/>
                </a:solidFill>
                <a:latin typeface="Calibri" pitchFamily="34" charset="0"/>
                <a:ea typeface="Calibri" pitchFamily="34" charset="-122"/>
                <a:cs typeface="Calibri" pitchFamily="34" charset="-120"/>
              </a:rPr>
              <a:t>Fixture berkas sintetis tetap, hanya operation word_count</a:t>
            </a:r>
            <a:endParaRPr lang="en-US" sz="1100" dirty="0"/>
          </a:p>
        </p:txBody>
      </p:sp>
      <p:sp>
        <p:nvSpPr>
          <p:cNvPr id="12" name="Shape 8"/>
          <p:cNvSpPr/>
          <p:nvPr/>
        </p:nvSpPr>
        <p:spPr>
          <a:xfrm>
            <a:off x="822960" y="3575304"/>
            <a:ext cx="365760" cy="365760"/>
          </a:xfrm>
          <a:prstGeom prst="ellipse">
            <a:avLst/>
          </a:prstGeom>
          <a:solidFill>
            <a:srgbClr val="5B6B78"/>
          </a:solidFill>
          <a:ln/>
        </p:spPr>
      </p:sp>
      <p:pic>
        <p:nvPicPr>
          <p:cNvPr id="13" name="Image 2" descr="E:\_tmp_pptx_build\icons\xcircle.png">    </p:cNvPr>
          <p:cNvPicPr>
            <a:picLocks noChangeAspect="1"/>
          </p:cNvPicPr>
          <p:nvPr/>
        </p:nvPicPr>
        <p:blipFill>
          <a:blip r:embed="rId3"/>
          <a:stretch>
            <a:fillRect/>
          </a:stretch>
        </p:blipFill>
        <p:spPr>
          <a:xfrm>
            <a:off x="918058" y="3670402"/>
            <a:ext cx="175565" cy="175565"/>
          </a:xfrm>
          <a:prstGeom prst="rect">
            <a:avLst/>
          </a:prstGeom>
        </p:spPr>
      </p:pic>
      <p:sp>
        <p:nvSpPr>
          <p:cNvPr id="14" name="Text 9"/>
          <p:cNvSpPr/>
          <p:nvPr/>
        </p:nvSpPr>
        <p:spPr>
          <a:xfrm>
            <a:off x="1325880" y="3557016"/>
            <a:ext cx="4389120" cy="502920"/>
          </a:xfrm>
          <a:prstGeom prst="rect">
            <a:avLst/>
          </a:prstGeom>
          <a:noFill/>
          <a:ln/>
        </p:spPr>
        <p:txBody>
          <a:bodyPr wrap="square" rtlCol="0" anchor="ctr"/>
          <a:lstStyle/>
          <a:p>
            <a:pPr indent="0" marL="0">
              <a:lnSpc>
                <a:spcPct val="110000"/>
              </a:lnSpc>
              <a:buNone/>
            </a:pPr>
            <a:r>
              <a:rPr lang="en-US" sz="1100" dirty="0">
                <a:solidFill>
                  <a:srgbClr val="1B2733"/>
                </a:solidFill>
                <a:latin typeface="Calibri" pitchFamily="34" charset="0"/>
                <a:ea typeface="Calibri" pitchFamily="34" charset="-122"/>
                <a:cs typeface="Calibri" pitchFamily="34" charset="-120"/>
              </a:rPr>
              <a:t>Tanpa transactional outbox pada producer — ada celah acceptance-vs-publish</a:t>
            </a:r>
            <a:endParaRPr lang="en-US" sz="1100" dirty="0"/>
          </a:p>
        </p:txBody>
      </p:sp>
      <p:sp>
        <p:nvSpPr>
          <p:cNvPr id="15" name="Shape 10"/>
          <p:cNvSpPr/>
          <p:nvPr/>
        </p:nvSpPr>
        <p:spPr>
          <a:xfrm>
            <a:off x="822960" y="4142232"/>
            <a:ext cx="365760" cy="365760"/>
          </a:xfrm>
          <a:prstGeom prst="ellipse">
            <a:avLst/>
          </a:prstGeom>
          <a:solidFill>
            <a:srgbClr val="5B6B78"/>
          </a:solidFill>
          <a:ln/>
        </p:spPr>
      </p:sp>
      <p:pic>
        <p:nvPicPr>
          <p:cNvPr id="16" name="Image 3" descr="E:\_tmp_pptx_build\icons\xcircle.png">    </p:cNvPr>
          <p:cNvPicPr>
            <a:picLocks noChangeAspect="1"/>
          </p:cNvPicPr>
          <p:nvPr/>
        </p:nvPicPr>
        <p:blipFill>
          <a:blip r:embed="rId4"/>
          <a:stretch>
            <a:fillRect/>
          </a:stretch>
        </p:blipFill>
        <p:spPr>
          <a:xfrm>
            <a:off x="918058" y="4237330"/>
            <a:ext cx="175565" cy="175565"/>
          </a:xfrm>
          <a:prstGeom prst="rect">
            <a:avLst/>
          </a:prstGeom>
        </p:spPr>
      </p:pic>
      <p:sp>
        <p:nvSpPr>
          <p:cNvPr id="17" name="Text 11"/>
          <p:cNvSpPr/>
          <p:nvPr/>
        </p:nvSpPr>
        <p:spPr>
          <a:xfrm>
            <a:off x="1325880" y="4123944"/>
            <a:ext cx="4389120" cy="502920"/>
          </a:xfrm>
          <a:prstGeom prst="rect">
            <a:avLst/>
          </a:prstGeom>
          <a:noFill/>
          <a:ln/>
        </p:spPr>
        <p:txBody>
          <a:bodyPr wrap="square" rtlCol="0" anchor="ctr"/>
          <a:lstStyle/>
          <a:p>
            <a:pPr indent="0" marL="0">
              <a:lnSpc>
                <a:spcPct val="110000"/>
              </a:lnSpc>
              <a:buNone/>
            </a:pPr>
            <a:r>
              <a:rPr lang="en-US" sz="1100" dirty="0">
                <a:solidFill>
                  <a:srgbClr val="1B2733"/>
                </a:solidFill>
                <a:latin typeface="Calibri" pitchFamily="34" charset="0"/>
                <a:ea typeface="Calibri" pitchFamily="34" charset="-122"/>
                <a:cs typeface="Calibri" pitchFamily="34" charset="-120"/>
              </a:rPr>
              <a:t>Broker &amp; database single-node, tanpa TLS/mTLS</a:t>
            </a:r>
            <a:endParaRPr lang="en-US" sz="1100" dirty="0"/>
          </a:p>
        </p:txBody>
      </p:sp>
      <p:sp>
        <p:nvSpPr>
          <p:cNvPr id="18" name="Shape 12"/>
          <p:cNvSpPr/>
          <p:nvPr/>
        </p:nvSpPr>
        <p:spPr>
          <a:xfrm>
            <a:off x="822960" y="4709160"/>
            <a:ext cx="365760" cy="365760"/>
          </a:xfrm>
          <a:prstGeom prst="ellipse">
            <a:avLst/>
          </a:prstGeom>
          <a:solidFill>
            <a:srgbClr val="5B6B78"/>
          </a:solidFill>
          <a:ln/>
        </p:spPr>
      </p:sp>
      <p:pic>
        <p:nvPicPr>
          <p:cNvPr id="19" name="Image 4" descr="E:\_tmp_pptx_build\icons\xcircle.png">    </p:cNvPr>
          <p:cNvPicPr>
            <a:picLocks noChangeAspect="1"/>
          </p:cNvPicPr>
          <p:nvPr/>
        </p:nvPicPr>
        <p:blipFill>
          <a:blip r:embed="rId5"/>
          <a:stretch>
            <a:fillRect/>
          </a:stretch>
        </p:blipFill>
        <p:spPr>
          <a:xfrm>
            <a:off x="918058" y="4804258"/>
            <a:ext cx="175565" cy="175565"/>
          </a:xfrm>
          <a:prstGeom prst="rect">
            <a:avLst/>
          </a:prstGeom>
        </p:spPr>
      </p:pic>
      <p:sp>
        <p:nvSpPr>
          <p:cNvPr id="20" name="Text 13"/>
          <p:cNvSpPr/>
          <p:nvPr/>
        </p:nvSpPr>
        <p:spPr>
          <a:xfrm>
            <a:off x="1325880" y="4690872"/>
            <a:ext cx="4389120" cy="502920"/>
          </a:xfrm>
          <a:prstGeom prst="rect">
            <a:avLst/>
          </a:prstGeom>
          <a:noFill/>
          <a:ln/>
        </p:spPr>
        <p:txBody>
          <a:bodyPr wrap="square" rtlCol="0" anchor="ctr"/>
          <a:lstStyle/>
          <a:p>
            <a:pPr indent="0" marL="0">
              <a:lnSpc>
                <a:spcPct val="110000"/>
              </a:lnSpc>
              <a:buNone/>
            </a:pPr>
            <a:r>
              <a:rPr lang="en-US" sz="1100" dirty="0">
                <a:solidFill>
                  <a:srgbClr val="1B2733"/>
                </a:solidFill>
                <a:latin typeface="Calibri" pitchFamily="34" charset="0"/>
                <a:ea typeface="Calibri" pitchFamily="34" charset="-122"/>
                <a:cs typeface="Calibri" pitchFamily="34" charset="-120"/>
              </a:rPr>
              <a:t>Tidak ada klaim “zero message loss” atau “exactly-once” menyeluruh</a:t>
            </a:r>
            <a:endParaRPr lang="en-US" sz="1100" dirty="0"/>
          </a:p>
        </p:txBody>
      </p:sp>
      <p:sp>
        <p:nvSpPr>
          <p:cNvPr id="21" name="Shape 14"/>
          <p:cNvSpPr/>
          <p:nvPr/>
        </p:nvSpPr>
        <p:spPr>
          <a:xfrm>
            <a:off x="6355080" y="1737360"/>
            <a:ext cx="5287975" cy="4434840"/>
          </a:xfrm>
          <a:prstGeom prst="roundRect">
            <a:avLst>
              <a:gd name="adj" fmla="val 1649"/>
            </a:avLst>
          </a:prstGeom>
          <a:solidFill>
            <a:srgbClr val="21295C"/>
          </a:solidFill>
          <a:ln/>
        </p:spPr>
      </p:sp>
      <p:sp>
        <p:nvSpPr>
          <p:cNvPr id="22" name="Text 15"/>
          <p:cNvSpPr/>
          <p:nvPr/>
        </p:nvSpPr>
        <p:spPr>
          <a:xfrm>
            <a:off x="6629400" y="1920240"/>
            <a:ext cx="4739335"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Pengembangan Lanjut</a:t>
            </a:r>
            <a:endParaRPr lang="en-US" sz="1500" dirty="0"/>
          </a:p>
        </p:txBody>
      </p:sp>
      <p:sp>
        <p:nvSpPr>
          <p:cNvPr id="23" name="Shape 16"/>
          <p:cNvSpPr/>
          <p:nvPr/>
        </p:nvSpPr>
        <p:spPr>
          <a:xfrm>
            <a:off x="6606540" y="2446020"/>
            <a:ext cx="411480" cy="411480"/>
          </a:xfrm>
          <a:prstGeom prst="ellipse">
            <a:avLst/>
          </a:prstGeom>
          <a:solidFill>
            <a:srgbClr val="C98A3A"/>
          </a:solidFill>
          <a:ln/>
        </p:spPr>
      </p:sp>
      <p:pic>
        <p:nvPicPr>
          <p:cNvPr id="24" name="Image 5" descr="E:\_tmp_pptx_build\icons\map.png">    </p:cNvPr>
          <p:cNvPicPr>
            <a:picLocks noChangeAspect="1"/>
          </p:cNvPicPr>
          <p:nvPr/>
        </p:nvPicPr>
        <p:blipFill>
          <a:blip r:embed="rId6"/>
          <a:stretch>
            <a:fillRect/>
          </a:stretch>
        </p:blipFill>
        <p:spPr>
          <a:xfrm>
            <a:off x="6713525" y="2553005"/>
            <a:ext cx="197510" cy="197510"/>
          </a:xfrm>
          <a:prstGeom prst="rect">
            <a:avLst/>
          </a:prstGeom>
        </p:spPr>
      </p:pic>
      <p:sp>
        <p:nvSpPr>
          <p:cNvPr id="25" name="Text 17"/>
          <p:cNvSpPr/>
          <p:nvPr/>
        </p:nvSpPr>
        <p:spPr>
          <a:xfrm>
            <a:off x="7178040" y="2423160"/>
            <a:ext cx="4190695" cy="594360"/>
          </a:xfrm>
          <a:prstGeom prst="rect">
            <a:avLst/>
          </a:prstGeom>
          <a:noFill/>
          <a:ln/>
        </p:spPr>
        <p:txBody>
          <a:bodyPr wrap="square" rtlCol="0" anchor="ctr"/>
          <a:lstStyle/>
          <a:p>
            <a:pPr indent="0" marL="0">
              <a:lnSpc>
                <a:spcPct val="110000"/>
              </a:lnSpc>
              <a:buNone/>
            </a:pPr>
            <a:r>
              <a:rPr lang="en-US" sz="1100" dirty="0">
                <a:solidFill>
                  <a:srgbClr val="E6EEF5"/>
                </a:solidFill>
                <a:latin typeface="Calibri" pitchFamily="34" charset="0"/>
                <a:ea typeface="Calibri" pitchFamily="34" charset="-122"/>
                <a:cs typeface="Calibri" pitchFamily="34" charset="-120"/>
              </a:rPr>
              <a:t>Worker kedua untuk pola W — verifikasi tanpa duplikasi efek bisnis lintas-consumer</a:t>
            </a:r>
            <a:endParaRPr lang="en-US" sz="1100" dirty="0"/>
          </a:p>
        </p:txBody>
      </p:sp>
      <p:sp>
        <p:nvSpPr>
          <p:cNvPr id="26" name="Shape 18"/>
          <p:cNvSpPr/>
          <p:nvPr/>
        </p:nvSpPr>
        <p:spPr>
          <a:xfrm>
            <a:off x="6606540" y="3104388"/>
            <a:ext cx="411480" cy="411480"/>
          </a:xfrm>
          <a:prstGeom prst="ellipse">
            <a:avLst/>
          </a:prstGeom>
          <a:solidFill>
            <a:srgbClr val="C98A3A"/>
          </a:solidFill>
          <a:ln/>
        </p:spPr>
      </p:sp>
      <p:pic>
        <p:nvPicPr>
          <p:cNvPr id="27" name="Image 6" descr="E:\_tmp_pptx_build\icons\map.png">    </p:cNvPr>
          <p:cNvPicPr>
            <a:picLocks noChangeAspect="1"/>
          </p:cNvPicPr>
          <p:nvPr/>
        </p:nvPicPr>
        <p:blipFill>
          <a:blip r:embed="rId7"/>
          <a:stretch>
            <a:fillRect/>
          </a:stretch>
        </p:blipFill>
        <p:spPr>
          <a:xfrm>
            <a:off x="6713525" y="3211373"/>
            <a:ext cx="197510" cy="197510"/>
          </a:xfrm>
          <a:prstGeom prst="rect">
            <a:avLst/>
          </a:prstGeom>
        </p:spPr>
      </p:pic>
      <p:sp>
        <p:nvSpPr>
          <p:cNvPr id="28" name="Text 19"/>
          <p:cNvSpPr/>
          <p:nvPr/>
        </p:nvSpPr>
        <p:spPr>
          <a:xfrm>
            <a:off x="7178040" y="3081528"/>
            <a:ext cx="4190695" cy="594360"/>
          </a:xfrm>
          <a:prstGeom prst="rect">
            <a:avLst/>
          </a:prstGeom>
          <a:noFill/>
          <a:ln/>
        </p:spPr>
        <p:txBody>
          <a:bodyPr wrap="square" rtlCol="0" anchor="ctr"/>
          <a:lstStyle/>
          <a:p>
            <a:pPr indent="0" marL="0">
              <a:lnSpc>
                <a:spcPct val="110000"/>
              </a:lnSpc>
              <a:buNone/>
            </a:pPr>
            <a:r>
              <a:rPr lang="en-US" sz="1100" dirty="0">
                <a:solidFill>
                  <a:srgbClr val="E6EEF5"/>
                </a:solidFill>
                <a:latin typeface="Calibri" pitchFamily="34" charset="0"/>
                <a:ea typeface="Calibri" pitchFamily="34" charset="-122"/>
                <a:cs typeface="Calibri" pitchFamily="34" charset="-120"/>
              </a:rPr>
              <a:t>Operasi tambahan: checksum, line_count</a:t>
            </a:r>
            <a:endParaRPr lang="en-US" sz="1100" dirty="0"/>
          </a:p>
        </p:txBody>
      </p:sp>
      <p:sp>
        <p:nvSpPr>
          <p:cNvPr id="29" name="Shape 20"/>
          <p:cNvSpPr/>
          <p:nvPr/>
        </p:nvSpPr>
        <p:spPr>
          <a:xfrm>
            <a:off x="6606540" y="3762756"/>
            <a:ext cx="411480" cy="411480"/>
          </a:xfrm>
          <a:prstGeom prst="ellipse">
            <a:avLst/>
          </a:prstGeom>
          <a:solidFill>
            <a:srgbClr val="C98A3A"/>
          </a:solidFill>
          <a:ln/>
        </p:spPr>
      </p:sp>
      <p:pic>
        <p:nvPicPr>
          <p:cNvPr id="30" name="Image 7" descr="E:\_tmp_pptx_build\icons\map.png">    </p:cNvPr>
          <p:cNvPicPr>
            <a:picLocks noChangeAspect="1"/>
          </p:cNvPicPr>
          <p:nvPr/>
        </p:nvPicPr>
        <p:blipFill>
          <a:blip r:embed="rId8"/>
          <a:stretch>
            <a:fillRect/>
          </a:stretch>
        </p:blipFill>
        <p:spPr>
          <a:xfrm>
            <a:off x="6713525" y="3869741"/>
            <a:ext cx="197510" cy="197510"/>
          </a:xfrm>
          <a:prstGeom prst="rect">
            <a:avLst/>
          </a:prstGeom>
        </p:spPr>
      </p:pic>
      <p:sp>
        <p:nvSpPr>
          <p:cNvPr id="31" name="Text 21"/>
          <p:cNvSpPr/>
          <p:nvPr/>
        </p:nvSpPr>
        <p:spPr>
          <a:xfrm>
            <a:off x="7178040" y="3739896"/>
            <a:ext cx="4190695" cy="594360"/>
          </a:xfrm>
          <a:prstGeom prst="rect">
            <a:avLst/>
          </a:prstGeom>
          <a:noFill/>
          <a:ln/>
        </p:spPr>
        <p:txBody>
          <a:bodyPr wrap="square" rtlCol="0" anchor="ctr"/>
          <a:lstStyle/>
          <a:p>
            <a:pPr indent="0" marL="0">
              <a:lnSpc>
                <a:spcPct val="110000"/>
              </a:lnSpc>
              <a:buNone/>
            </a:pPr>
            <a:r>
              <a:rPr lang="en-US" sz="1100" dirty="0">
                <a:solidFill>
                  <a:srgbClr val="E6EEF5"/>
                </a:solidFill>
                <a:latin typeface="Calibri" pitchFamily="34" charset="0"/>
                <a:ea typeface="Calibri" pitchFamily="34" charset="-122"/>
                <a:cs typeface="Calibri" pitchFamily="34" charset="-120"/>
              </a:rPr>
              <a:t>Retry/backoff otomatis dengan TTL queue untuk kegagalan sementara</a:t>
            </a:r>
            <a:endParaRPr lang="en-US" sz="1100" dirty="0"/>
          </a:p>
        </p:txBody>
      </p:sp>
      <p:sp>
        <p:nvSpPr>
          <p:cNvPr id="32" name="Shape 22"/>
          <p:cNvSpPr/>
          <p:nvPr/>
        </p:nvSpPr>
        <p:spPr>
          <a:xfrm>
            <a:off x="6606540" y="4421124"/>
            <a:ext cx="411480" cy="411480"/>
          </a:xfrm>
          <a:prstGeom prst="ellipse">
            <a:avLst/>
          </a:prstGeom>
          <a:solidFill>
            <a:srgbClr val="C98A3A"/>
          </a:solidFill>
          <a:ln/>
        </p:spPr>
      </p:sp>
      <p:pic>
        <p:nvPicPr>
          <p:cNvPr id="33" name="Image 8" descr="E:\_tmp_pptx_build\icons\map.png">    </p:cNvPr>
          <p:cNvPicPr>
            <a:picLocks noChangeAspect="1"/>
          </p:cNvPicPr>
          <p:nvPr/>
        </p:nvPicPr>
        <p:blipFill>
          <a:blip r:embed="rId9"/>
          <a:stretch>
            <a:fillRect/>
          </a:stretch>
        </p:blipFill>
        <p:spPr>
          <a:xfrm>
            <a:off x="6713525" y="4528109"/>
            <a:ext cx="197510" cy="197510"/>
          </a:xfrm>
          <a:prstGeom prst="rect">
            <a:avLst/>
          </a:prstGeom>
        </p:spPr>
      </p:pic>
      <p:sp>
        <p:nvSpPr>
          <p:cNvPr id="34" name="Text 23"/>
          <p:cNvSpPr/>
          <p:nvPr/>
        </p:nvSpPr>
        <p:spPr>
          <a:xfrm>
            <a:off x="7178040" y="4398264"/>
            <a:ext cx="4190695" cy="594360"/>
          </a:xfrm>
          <a:prstGeom prst="rect">
            <a:avLst/>
          </a:prstGeom>
          <a:noFill/>
          <a:ln/>
        </p:spPr>
        <p:txBody>
          <a:bodyPr wrap="square" rtlCol="0" anchor="ctr"/>
          <a:lstStyle/>
          <a:p>
            <a:pPr indent="0" marL="0">
              <a:lnSpc>
                <a:spcPct val="110000"/>
              </a:lnSpc>
              <a:buNone/>
            </a:pPr>
            <a:r>
              <a:rPr lang="en-US" sz="1100" dirty="0">
                <a:solidFill>
                  <a:srgbClr val="E6EEF5"/>
                </a:solidFill>
                <a:latin typeface="Calibri" pitchFamily="34" charset="0"/>
                <a:ea typeface="Calibri" pitchFamily="34" charset="-122"/>
                <a:cs typeface="Calibri" pitchFamily="34" charset="-120"/>
              </a:rPr>
              <a:t>Transactional outbox di producer bila dikembangkan menjadi API HTTP</a:t>
            </a:r>
            <a:endParaRPr lang="en-US" sz="1100" dirty="0"/>
          </a:p>
        </p:txBody>
      </p:sp>
      <p:sp>
        <p:nvSpPr>
          <p:cNvPr id="35" name="Text 24"/>
          <p:cNvSpPr/>
          <p:nvPr/>
        </p:nvSpPr>
        <p:spPr>
          <a:xfrm>
            <a:off x="10728655" y="6400800"/>
            <a:ext cx="1097280" cy="274320"/>
          </a:xfrm>
          <a:prstGeom prst="rect">
            <a:avLst/>
          </a:prstGeom>
          <a:noFill/>
          <a:ln/>
        </p:spPr>
        <p:txBody>
          <a:bodyPr wrap="square" rtlCol="0" anchor="ctr"/>
          <a:lstStyle/>
          <a:p>
            <a:pPr algn="r" indent="0" marL="0">
              <a:buNone/>
            </a:pPr>
            <a:r>
              <a:rPr lang="en-US" sz="900" dirty="0">
                <a:solidFill>
                  <a:srgbClr val="5B6B78"/>
                </a:solidFill>
                <a:latin typeface="Calibri" pitchFamily="34" charset="0"/>
                <a:ea typeface="Calibri" pitchFamily="34" charset="-122"/>
                <a:cs typeface="Calibri" pitchFamily="34" charset="-120"/>
              </a:rPr>
              <a:t>10 / 12</a:t>
            </a:r>
            <a:endParaRPr lang="en-US" sz="900" dirty="0"/>
          </a:p>
        </p:txBody>
      </p:sp>
      <p:sp>
        <p:nvSpPr>
          <p:cNvPr id="36" name="Text 25"/>
          <p:cNvSpPr/>
          <p:nvPr/>
        </p:nvSpPr>
        <p:spPr>
          <a:xfrm>
            <a:off x="548640" y="6400800"/>
            <a:ext cx="3657600" cy="274320"/>
          </a:xfrm>
          <a:prstGeom prst="rect">
            <a:avLst/>
          </a:prstGeom>
          <a:noFill/>
          <a:ln/>
        </p:spPr>
        <p:txBody>
          <a:bodyPr wrap="square" rtlCol="0" anchor="ctr"/>
          <a:lstStyle/>
          <a:p>
            <a:pPr indent="0" marL="0">
              <a:buNone/>
            </a:pPr>
            <a:r>
              <a:rPr lang="en-US" sz="900" dirty="0">
                <a:solidFill>
                  <a:srgbClr val="5B6B78"/>
                </a:solidFill>
                <a:latin typeface="Calibri" pitchFamily="34" charset="0"/>
                <a:ea typeface="Calibri" pitchFamily="34" charset="-122"/>
                <a:cs typeface="Calibri" pitchFamily="34" charset="-120"/>
              </a:rPr>
              <a:t>A04-W · Pengolahan Berkas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rtlCol="0" anchor="ctr"/>
          <a:lstStyle/>
          <a:p>
            <a:pPr algn="l" indent="0" marL="0">
              <a:buNone/>
            </a:pPr>
            <a:r>
              <a:rPr lang="en-US" sz="1200" b="1" spc="200" kern="0" dirty="0">
                <a:solidFill>
                  <a:srgbClr val="1C7293"/>
                </a:solidFill>
                <a:latin typeface="Calibri" pitchFamily="34" charset="0"/>
                <a:ea typeface="Calibri" pitchFamily="34" charset="-122"/>
                <a:cs typeface="Calibri" pitchFamily="34" charset="-120"/>
              </a:rPr>
              <a:t>07 · REUSE &amp; KONTRIBUSI</a:t>
            </a:r>
            <a:endParaRPr lang="en-US" sz="1200" dirty="0"/>
          </a:p>
        </p:txBody>
      </p:sp>
      <p:sp>
        <p:nvSpPr>
          <p:cNvPr id="3" name="Text 1"/>
          <p:cNvSpPr/>
          <p:nvPr/>
        </p:nvSpPr>
        <p:spPr>
          <a:xfrm>
            <a:off x="548640" y="658368"/>
            <a:ext cx="11094415" cy="777240"/>
          </a:xfrm>
          <a:prstGeom prst="rect">
            <a:avLst/>
          </a:prstGeom>
          <a:noFill/>
          <a:ln/>
        </p:spPr>
        <p:txBody>
          <a:bodyPr wrap="square" rtlCol="0" anchor="ctr"/>
          <a:lstStyle/>
          <a:p>
            <a:pPr algn="l" indent="0" marL="0">
              <a:buNone/>
            </a:pPr>
            <a:r>
              <a:rPr lang="en-US" sz="3200" b="1" dirty="0">
                <a:solidFill>
                  <a:srgbClr val="1B2733"/>
                </a:solidFill>
                <a:latin typeface="Cambria" pitchFamily="34" charset="0"/>
                <a:ea typeface="Cambria" pitchFamily="34" charset="-122"/>
                <a:cs typeface="Cambria" pitchFamily="34" charset="-120"/>
              </a:rPr>
              <a:t>Diadaptasi dari lab SIMPEL, dikembangkan sebagai proyek mandiri</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8046720"/>
                <a:gridCol w="3044952"/>
              </a:tblGrid>
              <a:tr h="41148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Komponen</a:t>
                      </a:r>
                      <a:endParaRPr lang="en-US" sz="1200" dirty="0">
                        <a:latin typeface="Calibri" charset="0"/>
                        <a:ea typeface="Calibri" charset="0"/>
                        <a:cs typeface="Calibri" charset="0"/>
                      </a:endParaRPr>
                    </a:p>
                  </a:txBody>
                  <a:tcPr marL="91440" marR="91440" marT="45720" marB="45720"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065A8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91440" marR="91440" marT="45720" marB="45720"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065A82"/>
                    </a:solidFill>
                  </a:tcPr>
                </a:tc>
              </a:tr>
              <a:tr h="457200">
                <a:tc>
                  <a:txBody>
                    <a:bodyPr/>
                    <a:lstStyle/>
                    <a:p>
                      <a:pPr indent="0" marL="0">
                        <a:buNone/>
                      </a:pPr>
                      <a:r>
                        <a:rPr lang="en-US" sz="1100" dirty="0">
                          <a:solidFill>
                            <a:srgbClr val="1B2733"/>
                          </a:solidFill>
                          <a:latin typeface="Calibri" pitchFamily="34" charset="0"/>
                          <a:ea typeface="Calibri" pitchFamily="34" charset="-122"/>
                          <a:cs typeface="Calibri" pitchFamily="34" charset="-120"/>
                        </a:rPr>
                        <a:t>openPublisher() — confirm channel, publish mandatory+persistent</a:t>
                      </a:r>
                      <a:endParaRPr lang="en-US" sz="1100" dirty="0">
                        <a:latin typeface="Calibri" charset="0"/>
                        <a:ea typeface="Calibri" charset="0"/>
                        <a:cs typeface="Calibri" charset="0"/>
                      </a:endParaRPr>
                    </a:p>
                  </a:txBody>
                  <a:tcPr marL="91440" marR="91440" marT="45720" marB="45720"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Divendorkan ke src/broker.js</a:t>
                      </a:r>
                      <a:endParaRPr lang="en-US" sz="1050" dirty="0">
                        <a:latin typeface="Calibri" charset="0"/>
                        <a:ea typeface="Calibri" charset="0"/>
                        <a:cs typeface="Calibri" charset="0"/>
                      </a:endParaRPr>
                    </a:p>
                  </a:txBody>
                  <a:tcPr marL="91440" marR="91440" marT="45720" marB="45720"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FFFFF"/>
                    </a:solidFill>
                  </a:tcPr>
                </a:tc>
              </a:tr>
              <a:tr h="457200">
                <a:tc>
                  <a:txBody>
                    <a:bodyPr/>
                    <a:lstStyle/>
                    <a:p>
                      <a:pPr indent="0" marL="0">
                        <a:buNone/>
                      </a:pPr>
                      <a:r>
                        <a:rPr lang="en-US" sz="1100" dirty="0">
                          <a:solidFill>
                            <a:srgbClr val="1B2733"/>
                          </a:solidFill>
                          <a:latin typeface="Calibri" pitchFamily="34" charset="0"/>
                          <a:ea typeface="Calibri" pitchFamily="34" charset="-122"/>
                          <a:cs typeface="Calibri" pitchFamily="34" charset="-120"/>
                        </a:rPr>
                        <a:t>Pola alternate-exchange &amp; dead-letter-exchange (DLQ)</a:t>
                      </a:r>
                      <a:endParaRPr lang="en-US" sz="1100" dirty="0">
                        <a:latin typeface="Calibri" charset="0"/>
                        <a:ea typeface="Calibri" charset="0"/>
                        <a:cs typeface="Calibri" charset="0"/>
                      </a:endParaRPr>
                    </a:p>
                  </a:txBody>
                  <a:tcPr marL="91440" marR="91440" marT="45720" marB="45720"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4F7FA"/>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Dipakai ulang, exchange baru</a:t>
                      </a:r>
                      <a:endParaRPr lang="en-US" sz="1050" dirty="0">
                        <a:latin typeface="Calibri" charset="0"/>
                        <a:ea typeface="Calibri" charset="0"/>
                        <a:cs typeface="Calibri" charset="0"/>
                      </a:endParaRPr>
                    </a:p>
                  </a:txBody>
                  <a:tcPr marL="91440" marR="91440" marT="45720" marB="45720"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4F7FA"/>
                    </a:solidFill>
                  </a:tcPr>
                </a:tc>
              </a:tr>
              <a:tr h="457200">
                <a:tc>
                  <a:txBody>
                    <a:bodyPr/>
                    <a:lstStyle/>
                    <a:p>
                      <a:pPr indent="0" marL="0">
                        <a:buNone/>
                      </a:pPr>
                      <a:r>
                        <a:rPr lang="en-US" sz="1100" dirty="0">
                          <a:solidFill>
                            <a:srgbClr val="1B2733"/>
                          </a:solidFill>
                          <a:latin typeface="Calibri" pitchFamily="34" charset="0"/>
                          <a:ea typeface="Calibri" pitchFamily="34" charset="-122"/>
                          <a:cs typeface="Calibri" pitchFamily="34" charset="-120"/>
                        </a:rPr>
                        <a:t>Graceful shutdown (cancel consumer → tunggu job aktif → tutup koneksi)</a:t>
                      </a:r>
                      <a:endParaRPr lang="en-US" sz="1100" dirty="0">
                        <a:latin typeface="Calibri" charset="0"/>
                        <a:ea typeface="Calibri" charset="0"/>
                        <a:cs typeface="Calibri" charset="0"/>
                      </a:endParaRPr>
                    </a:p>
                  </a:txBody>
                  <a:tcPr marL="91440" marR="91440" marT="45720" marB="45720"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Dipakai ulang, disesuaikan</a:t>
                      </a:r>
                      <a:endParaRPr lang="en-US" sz="1050" dirty="0">
                        <a:latin typeface="Calibri" charset="0"/>
                        <a:ea typeface="Calibri" charset="0"/>
                        <a:cs typeface="Calibri" charset="0"/>
                      </a:endParaRPr>
                    </a:p>
                  </a:txBody>
                  <a:tcPr marL="91440" marR="91440" marT="45720" marB="45720"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FFFFF"/>
                    </a:solidFill>
                  </a:tcPr>
                </a:tc>
              </a:tr>
              <a:tr h="457200">
                <a:tc>
                  <a:txBody>
                    <a:bodyPr/>
                    <a:lstStyle/>
                    <a:p>
                      <a:pPr indent="0" marL="0">
                        <a:buNone/>
                      </a:pPr>
                      <a:r>
                        <a:rPr lang="en-US" sz="1100" dirty="0">
                          <a:solidFill>
                            <a:srgbClr val="1B2733"/>
                          </a:solidFill>
                          <a:latin typeface="Calibri" pitchFamily="34" charset="0"/>
                          <a:ea typeface="Calibri" pitchFamily="34" charset="-122"/>
                          <a:cs typeface="Calibri" pitchFamily="34" charset="-120"/>
                        </a:rPr>
                        <a:t>INSERT ... ON CONFLICT DO NOTHING RETURNING</a:t>
                      </a:r>
                      <a:endParaRPr lang="en-US" sz="1100" dirty="0">
                        <a:latin typeface="Calibri" charset="0"/>
                        <a:ea typeface="Calibri" charset="0"/>
                        <a:cs typeface="Calibri" charset="0"/>
                      </a:endParaRPr>
                    </a:p>
                  </a:txBody>
                  <a:tcPr marL="91440" marR="91440" marT="45720" marB="45720"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4F7FA"/>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Pola inbox dipakai ulang</a:t>
                      </a:r>
                      <a:endParaRPr lang="en-US" sz="1050" dirty="0">
                        <a:latin typeface="Calibri" charset="0"/>
                        <a:ea typeface="Calibri" charset="0"/>
                        <a:cs typeface="Calibri" charset="0"/>
                      </a:endParaRPr>
                    </a:p>
                  </a:txBody>
                  <a:tcPr marL="91440" marR="91440" marT="45720" marB="45720"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4F7FA"/>
                    </a:solidFill>
                  </a:tcPr>
                </a:tc>
              </a:tr>
              <a:tr h="457200">
                <a:tc>
                  <a:txBody>
                    <a:bodyPr/>
                    <a:lstStyle/>
                    <a:p>
                      <a:pPr indent="0" marL="0">
                        <a:buNone/>
                      </a:pPr>
                      <a:r>
                        <a:rPr lang="en-US" sz="1100" dirty="0">
                          <a:solidFill>
                            <a:srgbClr val="1B2733"/>
                          </a:solidFill>
                          <a:latin typeface="Calibri" pitchFamily="34" charset="0"/>
                          <a:ea typeface="Calibri" pitchFamily="34" charset="-122"/>
                          <a:cs typeface="Calibri" pitchFamily="34" charset="-120"/>
                        </a:rPr>
                        <a:t>Klien RabbitMQ Management API (snapshot queue)</a:t>
                      </a:r>
                      <a:endParaRPr lang="en-US" sz="1100" dirty="0">
                        <a:latin typeface="Calibri" charset="0"/>
                        <a:ea typeface="Calibri" charset="0"/>
                        <a:cs typeface="Calibri" charset="0"/>
                      </a:endParaRPr>
                    </a:p>
                  </a:txBody>
                  <a:tcPr marL="91440" marR="91440" marT="45720" marB="45720"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8E5A"/>
                          </a:solidFill>
                          <a:latin typeface="Calibri" pitchFamily="34" charset="0"/>
                          <a:ea typeface="Calibri" pitchFamily="34" charset="-122"/>
                          <a:cs typeface="Calibri" pitchFamily="34" charset="-120"/>
                        </a:rPr>
                        <a:t>Disederhanakan → src/manajemen.js</a:t>
                      </a:r>
                      <a:endParaRPr lang="en-US" sz="1050" dirty="0">
                        <a:latin typeface="Calibri" charset="0"/>
                        <a:ea typeface="Calibri" charset="0"/>
                        <a:cs typeface="Calibri" charset="0"/>
                      </a:endParaRPr>
                    </a:p>
                  </a:txBody>
                  <a:tcPr marL="91440" marR="91440" marT="45720" marB="45720"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FFFFF"/>
                    </a:solidFill>
                  </a:tcPr>
                </a:tc>
              </a:tr>
              <a:tr h="457200">
                <a:tc>
                  <a:txBody>
                    <a:bodyPr/>
                    <a:lstStyle/>
                    <a:p>
                      <a:pPr indent="0" marL="0">
                        <a:buNone/>
                      </a:pPr>
                      <a:r>
                        <a:rPr lang="en-US" sz="1100" dirty="0">
                          <a:solidFill>
                            <a:srgbClr val="1B2733"/>
                          </a:solidFill>
                          <a:latin typeface="Calibri" pitchFamily="34" charset="0"/>
                          <a:ea typeface="Calibri" pitchFamily="34" charset="-122"/>
                          <a:cs typeface="Calibri" pitchFamily="34" charset="-120"/>
                        </a:rPr>
                        <a:t>Kontrak event, skema file_*, CLI, fixture + word_count, docker-compose</a:t>
                      </a:r>
                      <a:endParaRPr lang="en-US" sz="1100" dirty="0">
                        <a:latin typeface="Calibri" charset="0"/>
                        <a:ea typeface="Calibri" charset="0"/>
                        <a:cs typeface="Calibri" charset="0"/>
                      </a:endParaRPr>
                    </a:p>
                  </a:txBody>
                  <a:tcPr marL="91440" marR="91440" marT="45720" marB="45720"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4F7FA"/>
                    </a:solidFill>
                  </a:tcPr>
                </a:tc>
                <a:tc>
                  <a:txBody>
                    <a:bodyPr/>
                    <a:lstStyle/>
                    <a:p>
                      <a:pPr algn="ctr" indent="0" marL="0">
                        <a:buNone/>
                      </a:pPr>
                      <a:r>
                        <a:rPr lang="en-US" sz="1050" b="1" dirty="0">
                          <a:solidFill>
                            <a:srgbClr val="C98A3A"/>
                          </a:solidFill>
                          <a:latin typeface="Calibri" pitchFamily="34" charset="0"/>
                          <a:ea typeface="Calibri" pitchFamily="34" charset="-122"/>
                          <a:cs typeface="Calibri" pitchFamily="34" charset="-120"/>
                        </a:rPr>
                        <a:t>Baru — spesifik A04</a:t>
                      </a:r>
                      <a:endParaRPr lang="en-US" sz="1050" dirty="0">
                        <a:latin typeface="Calibri" charset="0"/>
                        <a:ea typeface="Calibri" charset="0"/>
                        <a:cs typeface="Calibri" charset="0"/>
                      </a:endParaRPr>
                    </a:p>
                  </a:txBody>
                  <a:tcPr marL="91440" marR="91440" marT="45720" marB="45720"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4F7FA"/>
                    </a:solidFill>
                  </a:tcPr>
                </a:tc>
              </a:tr>
            </a:tbl>
          </a:graphicData>
        </a:graphic>
      </p:graphicFrame>
      <p:sp>
        <p:nvSpPr>
          <p:cNvPr id="5" name="Shape 2"/>
          <p:cNvSpPr/>
          <p:nvPr/>
        </p:nvSpPr>
        <p:spPr>
          <a:xfrm>
            <a:off x="548640" y="5074920"/>
            <a:ext cx="11094415" cy="685800"/>
          </a:xfrm>
          <a:prstGeom prst="roundRect">
            <a:avLst>
              <a:gd name="adj" fmla="val 10667"/>
            </a:avLst>
          </a:prstGeom>
          <a:solidFill>
            <a:srgbClr val="F4F7FA"/>
          </a:solidFill>
          <a:ln/>
        </p:spPr>
      </p:sp>
      <p:sp>
        <p:nvSpPr>
          <p:cNvPr id="6" name="Shape 3"/>
          <p:cNvSpPr/>
          <p:nvPr/>
        </p:nvSpPr>
        <p:spPr>
          <a:xfrm>
            <a:off x="822960" y="5184648"/>
            <a:ext cx="457200" cy="457200"/>
          </a:xfrm>
          <a:prstGeom prst="ellipse">
            <a:avLst/>
          </a:prstGeom>
          <a:solidFill>
            <a:srgbClr val="1C7293"/>
          </a:solidFill>
          <a:ln/>
        </p:spPr>
      </p:sp>
      <p:pic>
        <p:nvPicPr>
          <p:cNvPr id="7" name="Image 0" descr="E:\_tmp_pptx_build\icons\link.png">    </p:cNvPr>
          <p:cNvPicPr>
            <a:picLocks noChangeAspect="1"/>
          </p:cNvPicPr>
          <p:nvPr/>
        </p:nvPicPr>
        <p:blipFill>
          <a:blip r:embed="rId1"/>
          <a:stretch>
            <a:fillRect/>
          </a:stretch>
        </p:blipFill>
        <p:spPr>
          <a:xfrm>
            <a:off x="941832" y="5303520"/>
            <a:ext cx="219456" cy="219456"/>
          </a:xfrm>
          <a:prstGeom prst="rect">
            <a:avLst/>
          </a:prstGeom>
        </p:spPr>
      </p:pic>
      <p:sp>
        <p:nvSpPr>
          <p:cNvPr id="8" name="Text 4"/>
          <p:cNvSpPr/>
          <p:nvPr/>
        </p:nvSpPr>
        <p:spPr>
          <a:xfrm>
            <a:off x="1463040" y="5074920"/>
            <a:ext cx="9905695" cy="685800"/>
          </a:xfrm>
          <a:prstGeom prst="rect">
            <a:avLst/>
          </a:prstGeom>
          <a:noFill/>
          <a:ln/>
        </p:spPr>
        <p:txBody>
          <a:bodyPr wrap="square" rtlCol="0" anchor="ctr"/>
          <a:lstStyle/>
          <a:p>
            <a:pPr indent="0" marL="0">
              <a:buNone/>
            </a:pPr>
            <a:r>
              <a:rPr lang="en-US" sz="1050" i="1" dirty="0">
                <a:solidFill>
                  <a:srgbClr val="1B2733"/>
                </a:solidFill>
                <a:latin typeface="Calibri" pitchFamily="34" charset="0"/>
                <a:ea typeface="Calibri" pitchFamily="34" charset="-122"/>
                <a:cs typeface="Calibri" pitchFamily="34" charset="-120"/>
              </a:rPr>
              <a:t>Proyek sengaja dipisah dari repo lab menjadi folder mandiri — infrastruktur sendiri (RabbitMQ 5682/15682, PostgreSQL 5442) — agar mudah dinilai &amp; dijalankan independen.</a:t>
            </a:r>
            <a:endParaRPr lang="en-US" sz="1050" dirty="0"/>
          </a:p>
        </p:txBody>
      </p:sp>
      <p:sp>
        <p:nvSpPr>
          <p:cNvPr id="9" name="Text 5"/>
          <p:cNvSpPr/>
          <p:nvPr/>
        </p:nvSpPr>
        <p:spPr>
          <a:xfrm>
            <a:off x="10728655" y="6400800"/>
            <a:ext cx="1097280" cy="274320"/>
          </a:xfrm>
          <a:prstGeom prst="rect">
            <a:avLst/>
          </a:prstGeom>
          <a:noFill/>
          <a:ln/>
        </p:spPr>
        <p:txBody>
          <a:bodyPr wrap="square" rtlCol="0" anchor="ctr"/>
          <a:lstStyle/>
          <a:p>
            <a:pPr algn="r" indent="0" marL="0">
              <a:buNone/>
            </a:pPr>
            <a:r>
              <a:rPr lang="en-US" sz="900" dirty="0">
                <a:solidFill>
                  <a:srgbClr val="5B6B78"/>
                </a:solidFill>
                <a:latin typeface="Calibri" pitchFamily="34" charset="0"/>
                <a:ea typeface="Calibri" pitchFamily="34" charset="-122"/>
                <a:cs typeface="Calibri" pitchFamily="34" charset="-120"/>
              </a:rPr>
              <a:t>11 / 12</a:t>
            </a:r>
            <a:endParaRPr lang="en-US" sz="900" dirty="0"/>
          </a:p>
        </p:txBody>
      </p:sp>
      <p:sp>
        <p:nvSpPr>
          <p:cNvPr id="10" name="Text 6"/>
          <p:cNvSpPr/>
          <p:nvPr/>
        </p:nvSpPr>
        <p:spPr>
          <a:xfrm>
            <a:off x="548640" y="6400800"/>
            <a:ext cx="3657600" cy="274320"/>
          </a:xfrm>
          <a:prstGeom prst="rect">
            <a:avLst/>
          </a:prstGeom>
          <a:noFill/>
          <a:ln/>
        </p:spPr>
        <p:txBody>
          <a:bodyPr wrap="square" rtlCol="0" anchor="ctr"/>
          <a:lstStyle/>
          <a:p>
            <a:pPr indent="0" marL="0">
              <a:buNone/>
            </a:pPr>
            <a:r>
              <a:rPr lang="en-US" sz="900" dirty="0">
                <a:solidFill>
                  <a:srgbClr val="5B6B78"/>
                </a:solidFill>
                <a:latin typeface="Calibri" pitchFamily="34" charset="0"/>
                <a:ea typeface="Calibri" pitchFamily="34" charset="-122"/>
                <a:cs typeface="Calibri" pitchFamily="34" charset="-120"/>
              </a:rPr>
              <a:t>A04-W · Pengolahan Berkas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5592928" y="1645920"/>
            <a:ext cx="1005840" cy="1005840"/>
          </a:xfrm>
          <a:prstGeom prst="ellipse">
            <a:avLst/>
          </a:prstGeom>
          <a:solidFill>
            <a:srgbClr val="1C7293"/>
          </a:solidFill>
          <a:ln/>
        </p:spPr>
      </p:sp>
      <p:pic>
        <p:nvPicPr>
          <p:cNvPr id="3" name="Image 0" descr="E:\_tmp_pptx_build\icons\mail.png">    </p:cNvPr>
          <p:cNvPicPr>
            <a:picLocks noChangeAspect="1"/>
          </p:cNvPicPr>
          <p:nvPr/>
        </p:nvPicPr>
        <p:blipFill>
          <a:blip r:embed="rId1"/>
          <a:stretch>
            <a:fillRect/>
          </a:stretch>
        </p:blipFill>
        <p:spPr>
          <a:xfrm>
            <a:off x="5854446" y="1907438"/>
            <a:ext cx="482803" cy="482803"/>
          </a:xfrm>
          <a:prstGeom prst="rect">
            <a:avLst/>
          </a:prstGeom>
        </p:spPr>
      </p:pic>
      <p:sp>
        <p:nvSpPr>
          <p:cNvPr id="4" name="Text 1"/>
          <p:cNvSpPr/>
          <p:nvPr/>
        </p:nvSpPr>
        <p:spPr>
          <a:xfrm>
            <a:off x="548640" y="2834640"/>
            <a:ext cx="11094415" cy="822960"/>
          </a:xfrm>
          <a:prstGeom prst="rect">
            <a:avLst/>
          </a:prstGeom>
          <a:noFill/>
          <a:ln/>
        </p:spPr>
        <p:txBody>
          <a:bodyPr wrap="square"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Terima Kasih</a:t>
            </a:r>
            <a:endParaRPr lang="en-US" sz="4000" dirty="0"/>
          </a:p>
        </p:txBody>
      </p:sp>
      <p:sp>
        <p:nvSpPr>
          <p:cNvPr id="5" name="Text 2"/>
          <p:cNvSpPr/>
          <p:nvPr/>
        </p:nvSpPr>
        <p:spPr>
          <a:xfrm>
            <a:off x="548640" y="3566160"/>
            <a:ext cx="11094415" cy="457200"/>
          </a:xfrm>
          <a:prstGeom prst="rect">
            <a:avLst/>
          </a:prstGeom>
          <a:noFill/>
          <a:ln/>
        </p:spPr>
        <p:txBody>
          <a:bodyPr wrap="square" rtlCol="0" anchor="ctr"/>
          <a:lstStyle/>
          <a:p>
            <a:pPr algn="ctr" indent="0" marL="0">
              <a:buNone/>
            </a:pPr>
            <a:r>
              <a:rPr lang="en-US" sz="1600" i="1" dirty="0">
                <a:solidFill>
                  <a:srgbClr val="CADCFC"/>
                </a:solidFill>
                <a:latin typeface="Calibri" pitchFamily="34" charset="0"/>
                <a:ea typeface="Calibri" pitchFamily="34" charset="-122"/>
                <a:cs typeface="Calibri" pitchFamily="34" charset="-120"/>
              </a:rPr>
              <a:t>Diskusi &amp; Tanya Jawab</a:t>
            </a:r>
            <a:endParaRPr lang="en-US" sz="1600" dirty="0"/>
          </a:p>
        </p:txBody>
      </p:sp>
      <p:sp>
        <p:nvSpPr>
          <p:cNvPr id="6" name="Text 3"/>
          <p:cNvSpPr/>
          <p:nvPr/>
        </p:nvSpPr>
        <p:spPr>
          <a:xfrm>
            <a:off x="548640" y="4480560"/>
            <a:ext cx="11094415" cy="320040"/>
          </a:xfrm>
          <a:prstGeom prst="rect">
            <a:avLst/>
          </a:prstGeom>
          <a:noFill/>
          <a:ln/>
        </p:spPr>
        <p:txBody>
          <a:bodyPr wrap="square" rtlCol="0" anchor="ctr"/>
          <a:lstStyle/>
          <a:p>
            <a:pPr algn="ctr" indent="0" marL="0">
              <a:buNone/>
            </a:pPr>
            <a:r>
              <a:rPr lang="en-US" sz="1200" dirty="0">
                <a:solidFill>
                  <a:srgbClr val="9AB6D6"/>
                </a:solidFill>
                <a:latin typeface="Calibri" pitchFamily="34" charset="0"/>
                <a:ea typeface="Calibri" pitchFamily="34" charset="-122"/>
                <a:cs typeface="Calibri" pitchFamily="34" charset="-120"/>
              </a:rPr>
              <a:t>README.md — kontrak, topologi, cara menjalankan</a:t>
            </a:r>
            <a:endParaRPr lang="en-US" sz="1200" dirty="0"/>
          </a:p>
        </p:txBody>
      </p:sp>
      <p:sp>
        <p:nvSpPr>
          <p:cNvPr id="7" name="Text 4"/>
          <p:cNvSpPr/>
          <p:nvPr/>
        </p:nvSpPr>
        <p:spPr>
          <a:xfrm>
            <a:off x="548640" y="4864608"/>
            <a:ext cx="11094415" cy="320040"/>
          </a:xfrm>
          <a:prstGeom prst="rect">
            <a:avLst/>
          </a:prstGeom>
          <a:noFill/>
          <a:ln/>
        </p:spPr>
        <p:txBody>
          <a:bodyPr wrap="square" rtlCol="0" anchor="ctr"/>
          <a:lstStyle/>
          <a:p>
            <a:pPr algn="ctr" indent="0" marL="0">
              <a:buNone/>
            </a:pPr>
            <a:r>
              <a:rPr lang="en-US" sz="1200" dirty="0">
                <a:solidFill>
                  <a:srgbClr val="9AB6D6"/>
                </a:solidFill>
                <a:latin typeface="Calibri" pitchFamily="34" charset="0"/>
                <a:ea typeface="Calibri" pitchFamily="34" charset="-122"/>
                <a:cs typeface="Calibri" pitchFamily="34" charset="-120"/>
              </a:rPr>
              <a:t>laporan/LAPORAN.md — laporan lengkap &amp; investigasi</a:t>
            </a:r>
            <a:endParaRPr lang="en-US" sz="1200" dirty="0"/>
          </a:p>
        </p:txBody>
      </p:sp>
      <p:sp>
        <p:nvSpPr>
          <p:cNvPr id="8" name="Text 5"/>
          <p:cNvSpPr/>
          <p:nvPr/>
        </p:nvSpPr>
        <p:spPr>
          <a:xfrm>
            <a:off x="548640" y="5248656"/>
            <a:ext cx="11094415" cy="320040"/>
          </a:xfrm>
          <a:prstGeom prst="rect">
            <a:avLst/>
          </a:prstGeom>
          <a:noFill/>
          <a:ln/>
        </p:spPr>
        <p:txBody>
          <a:bodyPr wrap="square" rtlCol="0" anchor="ctr"/>
          <a:lstStyle/>
          <a:p>
            <a:pPr algn="ctr" indent="0" marL="0">
              <a:buNone/>
            </a:pPr>
            <a:r>
              <a:rPr lang="en-US" sz="1200" dirty="0">
                <a:solidFill>
                  <a:srgbClr val="9AB6D6"/>
                </a:solidFill>
                <a:latin typeface="Calibri" pitchFamily="34" charset="0"/>
                <a:ea typeface="Calibri" pitchFamily="34" charset="-122"/>
                <a:cs typeface="Calibri" pitchFamily="34" charset="-120"/>
              </a:rPr>
              <a:t>bukti/ — evidence mentah run01 (JSON, log worker)</a:t>
            </a:r>
            <a:endParaRPr lang="en-US" sz="1200" dirty="0"/>
          </a:p>
        </p:txBody>
      </p:sp>
      <p:sp>
        <p:nvSpPr>
          <p:cNvPr id="9" name="Text 6"/>
          <p:cNvSpPr/>
          <p:nvPr/>
        </p:nvSpPr>
        <p:spPr>
          <a:xfrm>
            <a:off x="10728655" y="6400800"/>
            <a:ext cx="1097280" cy="274320"/>
          </a:xfrm>
          <a:prstGeom prst="rect">
            <a:avLst/>
          </a:prstGeom>
          <a:noFill/>
          <a:ln/>
        </p:spPr>
        <p:txBody>
          <a:bodyPr wrap="square" rtlCol="0" anchor="ctr"/>
          <a:lstStyle/>
          <a:p>
            <a:pPr algn="r" indent="0" marL="0">
              <a:buNone/>
            </a:pPr>
            <a:r>
              <a:rPr lang="en-US" sz="900" dirty="0">
                <a:solidFill>
                  <a:srgbClr val="9AA7CC"/>
                </a:solidFill>
                <a:latin typeface="Calibri" pitchFamily="34" charset="0"/>
                <a:ea typeface="Calibri" pitchFamily="34" charset="-122"/>
                <a:cs typeface="Calibri" pitchFamily="34" charset="-120"/>
              </a:rPr>
              <a:t>12 / 12</a:t>
            </a:r>
            <a:endParaRPr lang="en-US" sz="900" dirty="0"/>
          </a:p>
        </p:txBody>
      </p:sp>
      <p:sp>
        <p:nvSpPr>
          <p:cNvPr id="10" name="Text 7"/>
          <p:cNvSpPr/>
          <p:nvPr/>
        </p:nvSpPr>
        <p:spPr>
          <a:xfrm>
            <a:off x="548640" y="6400800"/>
            <a:ext cx="3657600" cy="274320"/>
          </a:xfrm>
          <a:prstGeom prst="rect">
            <a:avLst/>
          </a:prstGeom>
          <a:noFill/>
          <a:ln/>
        </p:spPr>
        <p:txBody>
          <a:bodyPr wrap="square" rtlCol="0" anchor="ctr"/>
          <a:lstStyle/>
          <a:p>
            <a:pPr indent="0" marL="0">
              <a:buNone/>
            </a:pPr>
            <a:r>
              <a:rPr lang="en-US" sz="900" dirty="0">
                <a:solidFill>
                  <a:srgbClr val="9AA7CC"/>
                </a:solidFill>
                <a:latin typeface="Calibri" pitchFamily="34" charset="0"/>
                <a:ea typeface="Calibri" pitchFamily="34" charset="-122"/>
                <a:cs typeface="Calibri" pitchFamily="34" charset="-120"/>
              </a:rPr>
              <a:t>A04-W · Pengolahan Berkas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2026-09-23T08:40:12Z</dcterms:created>
  <dcterms:modified xsi:type="dcterms:W3CDTF">2026-09-23T08:40:12Z</dcterms:modified>
</cp:coreProperties>
</file>